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Body Grotesque Fit" charset="1" panose="02000503040000020004"/>
      <p:regular r:id="rId20"/>
    </p:embeddedFont>
    <p:embeddedFont>
      <p:font typeface="Gotham Bold" charset="1" panose="00000000000000000000"/>
      <p:regular r:id="rId21"/>
    </p:embeddedFont>
    <p:embeddedFont>
      <p:font typeface="Canva Sans" charset="1" panose="020B0503030501040103"/>
      <p:regular r:id="rId22"/>
    </p:embeddedFont>
    <p:embeddedFont>
      <p:font typeface="Gotham" charset="1" panose="00000000000000000000"/>
      <p:regular r:id="rId23"/>
    </p:embeddedFont>
    <p:embeddedFont>
      <p:font typeface="Canva Sans Bold" charset="1" panose="020B0803030501040103"/>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22" Target="fonts/font22.fntdata" Type="http://schemas.openxmlformats.org/officeDocument/2006/relationships/font"/><Relationship Id="rId23" Target="fonts/font23.fntdata" Type="http://schemas.openxmlformats.org/officeDocument/2006/relationships/font"/><Relationship Id="rId24" Target="fonts/font24.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23.svg" Type="http://schemas.openxmlformats.org/officeDocument/2006/relationships/image"/><Relationship Id="rId11" Target="../media/image24.png" Type="http://schemas.openxmlformats.org/officeDocument/2006/relationships/image"/><Relationship Id="rId12" Target="../media/image25.svg" Type="http://schemas.openxmlformats.org/officeDocument/2006/relationships/image"/><Relationship Id="rId13" Target="../media/image26.png" Type="http://schemas.openxmlformats.org/officeDocument/2006/relationships/image"/><Relationship Id="rId14" Target="../media/image27.svg" Type="http://schemas.openxmlformats.org/officeDocument/2006/relationships/image"/><Relationship Id="rId15" Target="../media/image28.png" Type="http://schemas.openxmlformats.org/officeDocument/2006/relationships/image"/><Relationship Id="rId16" Target="../media/image29.svg" Type="http://schemas.openxmlformats.org/officeDocument/2006/relationships/image"/><Relationship Id="rId17" Target="../media/image30.png" Type="http://schemas.openxmlformats.org/officeDocument/2006/relationships/image"/><Relationship Id="rId18" Target="../media/image31.svg" Type="http://schemas.openxmlformats.org/officeDocument/2006/relationships/image"/><Relationship Id="rId19" Target="../media/image32.png" Type="http://schemas.openxmlformats.org/officeDocument/2006/relationships/image"/><Relationship Id="rId2" Target="../media/image15.png" Type="http://schemas.openxmlformats.org/officeDocument/2006/relationships/image"/><Relationship Id="rId20" Target="../media/image33.svg" Type="http://schemas.openxmlformats.org/officeDocument/2006/relationships/image"/><Relationship Id="rId21" Target="../media/image34.png" Type="http://schemas.openxmlformats.org/officeDocument/2006/relationships/image"/><Relationship Id="rId22" Target="../media/image35.svg" Type="http://schemas.openxmlformats.org/officeDocument/2006/relationships/image"/><Relationship Id="rId23" Target="../media/image36.png" Type="http://schemas.openxmlformats.org/officeDocument/2006/relationships/image"/><Relationship Id="rId24" Target="../media/image37.svg" Type="http://schemas.openxmlformats.org/officeDocument/2006/relationships/image"/><Relationship Id="rId25" Target="../media/image38.png" Type="http://schemas.openxmlformats.org/officeDocument/2006/relationships/image"/><Relationship Id="rId26" Target="../media/image39.svg" Type="http://schemas.openxmlformats.org/officeDocument/2006/relationships/image"/><Relationship Id="rId27" Target="../media/image40.png" Type="http://schemas.openxmlformats.org/officeDocument/2006/relationships/image"/><Relationship Id="rId3" Target="../media/image16.png" Type="http://schemas.openxmlformats.org/officeDocument/2006/relationships/image"/><Relationship Id="rId4" Target="../media/image17.svg" Type="http://schemas.openxmlformats.org/officeDocument/2006/relationships/image"/><Relationship Id="rId5" Target="../media/image18.png" Type="http://schemas.openxmlformats.org/officeDocument/2006/relationships/image"/><Relationship Id="rId6" Target="../media/image19.svg" Type="http://schemas.openxmlformats.org/officeDocument/2006/relationships/image"/><Relationship Id="rId7" Target="../media/image20.png" Type="http://schemas.openxmlformats.org/officeDocument/2006/relationships/image"/><Relationship Id="rId8" Target="../media/image21.svg" Type="http://schemas.openxmlformats.org/officeDocument/2006/relationships/image"/><Relationship Id="rId9" Target="../media/image22.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49.svg" Type="http://schemas.openxmlformats.org/officeDocument/2006/relationships/image"/><Relationship Id="rId11" Target="../media/image50.png" Type="http://schemas.openxmlformats.org/officeDocument/2006/relationships/image"/><Relationship Id="rId12" Target="../media/image51.svg" Type="http://schemas.openxmlformats.org/officeDocument/2006/relationships/image"/><Relationship Id="rId2" Target="../media/image41.png" Type="http://schemas.openxmlformats.org/officeDocument/2006/relationships/image"/><Relationship Id="rId3" Target="../media/image42.png" Type="http://schemas.openxmlformats.org/officeDocument/2006/relationships/image"/><Relationship Id="rId4" Target="../media/image43.svg" Type="http://schemas.openxmlformats.org/officeDocument/2006/relationships/image"/><Relationship Id="rId5" Target="../media/image44.png" Type="http://schemas.openxmlformats.org/officeDocument/2006/relationships/image"/><Relationship Id="rId6" Target="../media/image45.svg" Type="http://schemas.openxmlformats.org/officeDocument/2006/relationships/image"/><Relationship Id="rId7" Target="../media/image46.png" Type="http://schemas.openxmlformats.org/officeDocument/2006/relationships/image"/><Relationship Id="rId8" Target="../media/image47.svg" Type="http://schemas.openxmlformats.org/officeDocument/2006/relationships/image"/><Relationship Id="rId9" Target="../media/image48.pn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2.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3.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4.pn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5.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64.png" Type="http://schemas.openxmlformats.org/officeDocument/2006/relationships/image"/><Relationship Id="rId11" Target="../media/image65.svg" Type="http://schemas.openxmlformats.org/officeDocument/2006/relationships/image"/><Relationship Id="rId2" Target="../media/image56.png" Type="http://schemas.openxmlformats.org/officeDocument/2006/relationships/image"/><Relationship Id="rId3" Target="../media/image57.png" Type="http://schemas.openxmlformats.org/officeDocument/2006/relationships/image"/><Relationship Id="rId4" Target="../media/image58.png" Type="http://schemas.openxmlformats.org/officeDocument/2006/relationships/image"/><Relationship Id="rId5" Target="../media/image59.svg" Type="http://schemas.openxmlformats.org/officeDocument/2006/relationships/image"/><Relationship Id="rId6" Target="../media/image60.png" Type="http://schemas.openxmlformats.org/officeDocument/2006/relationships/image"/><Relationship Id="rId7" Target="../media/image61.svg" Type="http://schemas.openxmlformats.org/officeDocument/2006/relationships/image"/><Relationship Id="rId8" Target="../media/image62.png" Type="http://schemas.openxmlformats.org/officeDocument/2006/relationships/image"/><Relationship Id="rId9" Target="../media/image63.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6.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6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76.svg" Type="http://schemas.openxmlformats.org/officeDocument/2006/relationships/image"/><Relationship Id="rId11" Target="../media/image77.png" Type="http://schemas.openxmlformats.org/officeDocument/2006/relationships/image"/><Relationship Id="rId12" Target="../media/image78.svg" Type="http://schemas.openxmlformats.org/officeDocument/2006/relationships/image"/><Relationship Id="rId13" Target="../media/image79.png" Type="http://schemas.openxmlformats.org/officeDocument/2006/relationships/image"/><Relationship Id="rId14" Target="../media/image80.svg" Type="http://schemas.openxmlformats.org/officeDocument/2006/relationships/image"/><Relationship Id="rId15" Target="../media/image81.png" Type="http://schemas.openxmlformats.org/officeDocument/2006/relationships/image"/><Relationship Id="rId16" Target="../media/image82.svg" Type="http://schemas.openxmlformats.org/officeDocument/2006/relationships/image"/><Relationship Id="rId17" Target="../media/image83.png" Type="http://schemas.openxmlformats.org/officeDocument/2006/relationships/image"/><Relationship Id="rId18" Target="../media/image84.svg" Type="http://schemas.openxmlformats.org/officeDocument/2006/relationships/image"/><Relationship Id="rId19" Target="../media/image85.png" Type="http://schemas.openxmlformats.org/officeDocument/2006/relationships/image"/><Relationship Id="rId2" Target="../media/image68.png" Type="http://schemas.openxmlformats.org/officeDocument/2006/relationships/image"/><Relationship Id="rId20" Target="../media/image86.svg" Type="http://schemas.openxmlformats.org/officeDocument/2006/relationships/image"/><Relationship Id="rId21" Target="../media/image87.png" Type="http://schemas.openxmlformats.org/officeDocument/2006/relationships/image"/><Relationship Id="rId22" Target="../media/image88.svg" Type="http://schemas.openxmlformats.org/officeDocument/2006/relationships/image"/><Relationship Id="rId3" Target="../media/image69.png" Type="http://schemas.openxmlformats.org/officeDocument/2006/relationships/image"/><Relationship Id="rId4" Target="../media/image70.png" Type="http://schemas.openxmlformats.org/officeDocument/2006/relationships/image"/><Relationship Id="rId5" Target="../media/image71.png" Type="http://schemas.openxmlformats.org/officeDocument/2006/relationships/image"/><Relationship Id="rId6" Target="../media/image72.svg" Type="http://schemas.openxmlformats.org/officeDocument/2006/relationships/image"/><Relationship Id="rId7" Target="../media/image73.png" Type="http://schemas.openxmlformats.org/officeDocument/2006/relationships/image"/><Relationship Id="rId8" Target="../media/image74.svg" Type="http://schemas.openxmlformats.org/officeDocument/2006/relationships/image"/><Relationship Id="rId9" Target="../media/image7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89.png" Type="http://schemas.openxmlformats.org/officeDocument/2006/relationships/image"/><Relationship Id="rId3" Target="../media/image90.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1.png" Type="http://schemas.openxmlformats.org/officeDocument/2006/relationships/image"/><Relationship Id="rId3" Target="../media/image92.png" Type="http://schemas.openxmlformats.org/officeDocument/2006/relationships/image"/><Relationship Id="rId4" Target="../media/image93.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94.png" Type="http://schemas.openxmlformats.org/officeDocument/2006/relationships/image"/><Relationship Id="rId3" Target="../media/image95.svg" Type="http://schemas.openxmlformats.org/officeDocument/2006/relationships/image"/><Relationship Id="rId4" Target="../media/image96.png" Type="http://schemas.openxmlformats.org/officeDocument/2006/relationships/image"/><Relationship Id="rId5" Target="../media/image97.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3F4FA"/>
        </a:solidFill>
      </p:bgPr>
    </p:bg>
    <p:spTree>
      <p:nvGrpSpPr>
        <p:cNvPr id="1" name=""/>
        <p:cNvGrpSpPr/>
        <p:nvPr/>
      </p:nvGrpSpPr>
      <p:grpSpPr>
        <a:xfrm>
          <a:off x="0" y="0"/>
          <a:ext cx="0" cy="0"/>
          <a:chOff x="0" y="0"/>
          <a:chExt cx="0" cy="0"/>
        </a:xfrm>
      </p:grpSpPr>
      <p:grpSp>
        <p:nvGrpSpPr>
          <p:cNvPr name="Group 2" id="2"/>
          <p:cNvGrpSpPr/>
          <p:nvPr/>
        </p:nvGrpSpPr>
        <p:grpSpPr>
          <a:xfrm rot="0">
            <a:off x="7151433" y="3778028"/>
            <a:ext cx="3985133" cy="670684"/>
            <a:chOff x="0" y="0"/>
            <a:chExt cx="2414787" cy="406400"/>
          </a:xfrm>
        </p:grpSpPr>
        <p:sp>
          <p:nvSpPr>
            <p:cNvPr name="Freeform 3" id="3"/>
            <p:cNvSpPr/>
            <p:nvPr/>
          </p:nvSpPr>
          <p:spPr>
            <a:xfrm flipH="false" flipV="false" rot="0">
              <a:off x="0" y="0"/>
              <a:ext cx="2414787" cy="406400"/>
            </a:xfrm>
            <a:custGeom>
              <a:avLst/>
              <a:gdLst/>
              <a:ahLst/>
              <a:cxnLst/>
              <a:rect r="r" b="b" t="t" l="l"/>
              <a:pathLst>
                <a:path h="406400" w="2414787">
                  <a:moveTo>
                    <a:pt x="2211587" y="0"/>
                  </a:moveTo>
                  <a:cubicBezTo>
                    <a:pt x="2323812" y="0"/>
                    <a:pt x="2414787" y="90976"/>
                    <a:pt x="2414787" y="203200"/>
                  </a:cubicBezTo>
                  <a:cubicBezTo>
                    <a:pt x="2414787" y="315424"/>
                    <a:pt x="2323812" y="406400"/>
                    <a:pt x="2211587" y="406400"/>
                  </a:cubicBezTo>
                  <a:lnTo>
                    <a:pt x="203200" y="406400"/>
                  </a:lnTo>
                  <a:cubicBezTo>
                    <a:pt x="90976" y="406400"/>
                    <a:pt x="0" y="315424"/>
                    <a:pt x="0" y="203200"/>
                  </a:cubicBezTo>
                  <a:cubicBezTo>
                    <a:pt x="0" y="90976"/>
                    <a:pt x="90976" y="0"/>
                    <a:pt x="203200" y="0"/>
                  </a:cubicBezTo>
                  <a:close/>
                </a:path>
              </a:pathLst>
            </a:custGeom>
            <a:solidFill>
              <a:srgbClr val="AFA28F"/>
            </a:solidFill>
          </p:spPr>
        </p:sp>
        <p:sp>
          <p:nvSpPr>
            <p:cNvPr name="TextBox 4" id="4"/>
            <p:cNvSpPr txBox="true"/>
            <p:nvPr/>
          </p:nvSpPr>
          <p:spPr>
            <a:xfrm>
              <a:off x="0" y="-38100"/>
              <a:ext cx="2414787" cy="444500"/>
            </a:xfrm>
            <a:prstGeom prst="rect">
              <a:avLst/>
            </a:prstGeom>
          </p:spPr>
          <p:txBody>
            <a:bodyPr anchor="ctr" rtlCol="false" tIns="50800" lIns="50800" bIns="50800" rIns="50800"/>
            <a:lstStyle/>
            <a:p>
              <a:pPr algn="ctr">
                <a:lnSpc>
                  <a:spcPts val="3359"/>
                </a:lnSpc>
              </a:pPr>
            </a:p>
          </p:txBody>
        </p:sp>
      </p:grpSp>
      <p:sp>
        <p:nvSpPr>
          <p:cNvPr name="Freeform 5" id="5"/>
          <p:cNvSpPr/>
          <p:nvPr/>
        </p:nvSpPr>
        <p:spPr>
          <a:xfrm flipH="false" flipV="false" rot="0">
            <a:off x="15068154" y="7757957"/>
            <a:ext cx="3219846" cy="2529043"/>
          </a:xfrm>
          <a:custGeom>
            <a:avLst/>
            <a:gdLst/>
            <a:ahLst/>
            <a:cxnLst/>
            <a:rect r="r" b="b" t="t" l="l"/>
            <a:pathLst>
              <a:path h="2529043" w="3219846">
                <a:moveTo>
                  <a:pt x="0" y="0"/>
                </a:moveTo>
                <a:lnTo>
                  <a:pt x="3219846" y="0"/>
                </a:lnTo>
                <a:lnTo>
                  <a:pt x="3219846" y="2529043"/>
                </a:lnTo>
                <a:lnTo>
                  <a:pt x="0" y="2529043"/>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0">
            <a:off x="0" y="0"/>
            <a:ext cx="2889675" cy="2889675"/>
          </a:xfrm>
          <a:custGeom>
            <a:avLst/>
            <a:gdLst/>
            <a:ahLst/>
            <a:cxnLst/>
            <a:rect r="r" b="b" t="t" l="l"/>
            <a:pathLst>
              <a:path h="2889675" w="2889675">
                <a:moveTo>
                  <a:pt x="0" y="0"/>
                </a:moveTo>
                <a:lnTo>
                  <a:pt x="2889675" y="0"/>
                </a:lnTo>
                <a:lnTo>
                  <a:pt x="2889675" y="2889675"/>
                </a:lnTo>
                <a:lnTo>
                  <a:pt x="0" y="288967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838629" y="8330266"/>
            <a:ext cx="2909597" cy="1137388"/>
          </a:xfrm>
          <a:custGeom>
            <a:avLst/>
            <a:gdLst/>
            <a:ahLst/>
            <a:cxnLst/>
            <a:rect r="r" b="b" t="t" l="l"/>
            <a:pathLst>
              <a:path h="1137388" w="2909597">
                <a:moveTo>
                  <a:pt x="0" y="0"/>
                </a:moveTo>
                <a:lnTo>
                  <a:pt x="2909598" y="0"/>
                </a:lnTo>
                <a:lnTo>
                  <a:pt x="2909598" y="1137388"/>
                </a:lnTo>
                <a:lnTo>
                  <a:pt x="0" y="1137388"/>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false" flipV="false" rot="0">
            <a:off x="14433749" y="766860"/>
            <a:ext cx="3065851" cy="1355954"/>
          </a:xfrm>
          <a:custGeom>
            <a:avLst/>
            <a:gdLst/>
            <a:ahLst/>
            <a:cxnLst/>
            <a:rect r="r" b="b" t="t" l="l"/>
            <a:pathLst>
              <a:path h="1355954" w="3065851">
                <a:moveTo>
                  <a:pt x="0" y="0"/>
                </a:moveTo>
                <a:lnTo>
                  <a:pt x="3065851" y="0"/>
                </a:lnTo>
                <a:lnTo>
                  <a:pt x="3065851" y="1355955"/>
                </a:lnTo>
                <a:lnTo>
                  <a:pt x="0" y="1355955"/>
                </a:lnTo>
                <a:lnTo>
                  <a:pt x="0" y="0"/>
                </a:lnTo>
                <a:close/>
              </a:path>
            </a:pathLst>
          </a:custGeom>
          <a:blipFill>
            <a:blip r:embed="rId8">
              <a:extLst>
                <a:ext uri="{96DAC541-7B7A-43D3-8B79-37D633B846F1}">
                  <asvg:svgBlip xmlns:asvg="http://schemas.microsoft.com/office/drawing/2016/SVG/main" r:embed="rId9"/>
                </a:ext>
              </a:extLst>
            </a:blip>
            <a:stretch>
              <a:fillRect l="-24342" t="0" r="0" b="-53861"/>
            </a:stretch>
          </a:blipFill>
        </p:spPr>
      </p:sp>
      <p:sp>
        <p:nvSpPr>
          <p:cNvPr name="Freeform 9" id="9"/>
          <p:cNvSpPr/>
          <p:nvPr/>
        </p:nvSpPr>
        <p:spPr>
          <a:xfrm flipH="false" flipV="false" rot="0">
            <a:off x="3424748" y="4467761"/>
            <a:ext cx="1283069" cy="2057400"/>
          </a:xfrm>
          <a:custGeom>
            <a:avLst/>
            <a:gdLst/>
            <a:ahLst/>
            <a:cxnLst/>
            <a:rect r="r" b="b" t="t" l="l"/>
            <a:pathLst>
              <a:path h="2057400" w="1283069">
                <a:moveTo>
                  <a:pt x="0" y="0"/>
                </a:moveTo>
                <a:lnTo>
                  <a:pt x="1283070" y="0"/>
                </a:lnTo>
                <a:lnTo>
                  <a:pt x="1283070" y="2057400"/>
                </a:lnTo>
                <a:lnTo>
                  <a:pt x="0" y="2057400"/>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TextBox 10" id="10"/>
          <p:cNvSpPr txBox="true"/>
          <p:nvPr/>
        </p:nvSpPr>
        <p:spPr>
          <a:xfrm rot="0">
            <a:off x="4918607" y="4734461"/>
            <a:ext cx="8450785" cy="4899025"/>
          </a:xfrm>
          <a:prstGeom prst="rect">
            <a:avLst/>
          </a:prstGeom>
        </p:spPr>
        <p:txBody>
          <a:bodyPr anchor="t" rtlCol="false" tIns="0" lIns="0" bIns="0" rIns="0">
            <a:spAutoFit/>
          </a:bodyPr>
          <a:lstStyle/>
          <a:p>
            <a:pPr algn="ctr">
              <a:lnSpc>
                <a:spcPts val="5599"/>
              </a:lnSpc>
            </a:pPr>
            <a:r>
              <a:rPr lang="en-US" sz="3999" spc="227">
                <a:solidFill>
                  <a:srgbClr val="323246"/>
                </a:solidFill>
                <a:latin typeface="Body Grotesque Fit"/>
                <a:ea typeface="Body Grotesque Fit"/>
                <a:cs typeface="Body Grotesque Fit"/>
                <a:sym typeface="Body Grotesque Fit"/>
              </a:rPr>
              <a:t>Purvi Chopra</a:t>
            </a:r>
          </a:p>
          <a:p>
            <a:pPr algn="ctr">
              <a:lnSpc>
                <a:spcPts val="5599"/>
              </a:lnSpc>
            </a:pPr>
            <a:r>
              <a:rPr lang="en-US" sz="3999" spc="227">
                <a:solidFill>
                  <a:srgbClr val="323246"/>
                </a:solidFill>
                <a:latin typeface="Body Grotesque Fit"/>
                <a:ea typeface="Body Grotesque Fit"/>
                <a:cs typeface="Body Grotesque Fit"/>
                <a:sym typeface="Body Grotesque Fit"/>
              </a:rPr>
              <a:t>Harman Singh Deol</a:t>
            </a:r>
          </a:p>
          <a:p>
            <a:pPr algn="ctr">
              <a:lnSpc>
                <a:spcPts val="5599"/>
              </a:lnSpc>
            </a:pPr>
            <a:r>
              <a:rPr lang="en-US" sz="3999" spc="227">
                <a:solidFill>
                  <a:srgbClr val="323246"/>
                </a:solidFill>
                <a:latin typeface="Body Grotesque Fit"/>
                <a:ea typeface="Body Grotesque Fit"/>
                <a:cs typeface="Body Grotesque Fit"/>
                <a:sym typeface="Body Grotesque Fit"/>
              </a:rPr>
              <a:t>Akashdeep Singh</a:t>
            </a:r>
          </a:p>
          <a:p>
            <a:pPr algn="ctr">
              <a:lnSpc>
                <a:spcPts val="5599"/>
              </a:lnSpc>
            </a:pPr>
            <a:r>
              <a:rPr lang="en-US" sz="3999" spc="227">
                <a:solidFill>
                  <a:srgbClr val="323246"/>
                </a:solidFill>
                <a:latin typeface="Body Grotesque Fit"/>
                <a:ea typeface="Body Grotesque Fit"/>
                <a:cs typeface="Body Grotesque Fit"/>
                <a:sym typeface="Body Grotesque Fit"/>
              </a:rPr>
              <a:t>Vanshika Sharma</a:t>
            </a:r>
          </a:p>
          <a:p>
            <a:pPr algn="ctr">
              <a:lnSpc>
                <a:spcPts val="5599"/>
              </a:lnSpc>
            </a:pPr>
          </a:p>
          <a:p>
            <a:pPr algn="ctr">
              <a:lnSpc>
                <a:spcPts val="5599"/>
              </a:lnSpc>
            </a:pPr>
            <a:r>
              <a:rPr lang="en-US" sz="3999" spc="227">
                <a:solidFill>
                  <a:srgbClr val="323246"/>
                </a:solidFill>
                <a:latin typeface="Body Grotesque Fit"/>
                <a:ea typeface="Body Grotesque Fit"/>
                <a:cs typeface="Body Grotesque Fit"/>
                <a:sym typeface="Body Grotesque Fit"/>
              </a:rPr>
              <a:t>Btech CSE (AI &amp; DS) - B</a:t>
            </a:r>
          </a:p>
          <a:p>
            <a:pPr algn="ctr">
              <a:lnSpc>
                <a:spcPts val="5599"/>
              </a:lnSpc>
              <a:spcBef>
                <a:spcPct val="0"/>
              </a:spcBef>
            </a:pPr>
            <a:r>
              <a:rPr lang="en-US" sz="3999" spc="227">
                <a:solidFill>
                  <a:srgbClr val="323246"/>
                </a:solidFill>
                <a:latin typeface="Body Grotesque Fit"/>
                <a:ea typeface="Body Grotesque Fit"/>
                <a:cs typeface="Body Grotesque Fit"/>
                <a:sym typeface="Body Grotesque Fit"/>
              </a:rPr>
              <a:t>SEM - II</a:t>
            </a:r>
          </a:p>
        </p:txBody>
      </p:sp>
      <p:sp>
        <p:nvSpPr>
          <p:cNvPr name="Freeform 11" id="11"/>
          <p:cNvSpPr/>
          <p:nvPr/>
        </p:nvSpPr>
        <p:spPr>
          <a:xfrm flipH="false" flipV="true" rot="0">
            <a:off x="838629" y="4467761"/>
            <a:ext cx="1283069" cy="2057400"/>
          </a:xfrm>
          <a:custGeom>
            <a:avLst/>
            <a:gdLst/>
            <a:ahLst/>
            <a:cxnLst/>
            <a:rect r="r" b="b" t="t" l="l"/>
            <a:pathLst>
              <a:path h="2057400" w="1283069">
                <a:moveTo>
                  <a:pt x="0" y="2057400"/>
                </a:moveTo>
                <a:lnTo>
                  <a:pt x="1283070" y="2057400"/>
                </a:lnTo>
                <a:lnTo>
                  <a:pt x="1283070" y="0"/>
                </a:lnTo>
                <a:lnTo>
                  <a:pt x="0" y="0"/>
                </a:lnTo>
                <a:lnTo>
                  <a:pt x="0" y="205740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2" id="12"/>
          <p:cNvSpPr/>
          <p:nvPr/>
        </p:nvSpPr>
        <p:spPr>
          <a:xfrm flipH="false" flipV="false" rot="0">
            <a:off x="13384800" y="5031306"/>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sp>
        <p:nvSpPr>
          <p:cNvPr name="TextBox 13" id="13"/>
          <p:cNvSpPr txBox="true"/>
          <p:nvPr/>
        </p:nvSpPr>
        <p:spPr>
          <a:xfrm rot="0">
            <a:off x="3100622" y="1206713"/>
            <a:ext cx="12086755" cy="2139395"/>
          </a:xfrm>
          <a:prstGeom prst="rect">
            <a:avLst/>
          </a:prstGeom>
        </p:spPr>
        <p:txBody>
          <a:bodyPr anchor="t" rtlCol="false" tIns="0" lIns="0" bIns="0" rIns="0">
            <a:spAutoFit/>
          </a:bodyPr>
          <a:lstStyle/>
          <a:p>
            <a:pPr algn="ctr">
              <a:lnSpc>
                <a:spcPts val="17530"/>
              </a:lnSpc>
              <a:spcBef>
                <a:spcPct val="0"/>
              </a:spcBef>
            </a:pPr>
            <a:r>
              <a:rPr lang="en-US" b="true" sz="12521" spc="425">
                <a:solidFill>
                  <a:srgbClr val="CD5C50"/>
                </a:solidFill>
                <a:latin typeface="Gotham Bold"/>
                <a:ea typeface="Gotham Bold"/>
                <a:cs typeface="Gotham Bold"/>
                <a:sym typeface="Gotham Bold"/>
              </a:rPr>
              <a:t>AI PROJECT</a:t>
            </a:r>
          </a:p>
        </p:txBody>
      </p:sp>
      <p:sp>
        <p:nvSpPr>
          <p:cNvPr name="TextBox 14" id="14"/>
          <p:cNvSpPr txBox="true"/>
          <p:nvPr/>
        </p:nvSpPr>
        <p:spPr>
          <a:xfrm rot="0">
            <a:off x="7394645" y="3814828"/>
            <a:ext cx="3498710" cy="568508"/>
          </a:xfrm>
          <a:prstGeom prst="rect">
            <a:avLst/>
          </a:prstGeom>
        </p:spPr>
        <p:txBody>
          <a:bodyPr anchor="t" rtlCol="false" tIns="0" lIns="0" bIns="0" rIns="0">
            <a:spAutoFit/>
          </a:bodyPr>
          <a:lstStyle/>
          <a:p>
            <a:pPr algn="ctr">
              <a:lnSpc>
                <a:spcPts val="4648"/>
              </a:lnSpc>
              <a:spcBef>
                <a:spcPct val="0"/>
              </a:spcBef>
            </a:pPr>
            <a:r>
              <a:rPr lang="en-US" sz="3320" spc="189">
                <a:solidFill>
                  <a:srgbClr val="FFFDF6"/>
                </a:solidFill>
                <a:latin typeface="Body Grotesque Fit"/>
                <a:ea typeface="Body Grotesque Fit"/>
                <a:cs typeface="Body Grotesque Fit"/>
                <a:sym typeface="Body Grotesque Fit"/>
              </a:rPr>
              <a:t>Presented by :</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3F4FA"/>
        </a:solidFill>
      </p:bgPr>
    </p:bg>
    <p:spTree>
      <p:nvGrpSpPr>
        <p:cNvPr id="1" name=""/>
        <p:cNvGrpSpPr/>
        <p:nvPr/>
      </p:nvGrpSpPr>
      <p:grpSpPr>
        <a:xfrm>
          <a:off x="0" y="0"/>
          <a:ext cx="0" cy="0"/>
          <a:chOff x="0" y="0"/>
          <a:chExt cx="0" cy="0"/>
        </a:xfrm>
      </p:grpSpPr>
      <p:grpSp>
        <p:nvGrpSpPr>
          <p:cNvPr name="Group 2" id="2"/>
          <p:cNvGrpSpPr/>
          <p:nvPr/>
        </p:nvGrpSpPr>
        <p:grpSpPr>
          <a:xfrm rot="-5400000">
            <a:off x="-889584" y="858808"/>
            <a:ext cx="9355714" cy="8496558"/>
            <a:chOff x="0" y="0"/>
            <a:chExt cx="660400" cy="599754"/>
          </a:xfrm>
        </p:grpSpPr>
        <p:sp>
          <p:nvSpPr>
            <p:cNvPr name="Freeform 3" id="3"/>
            <p:cNvSpPr/>
            <p:nvPr/>
          </p:nvSpPr>
          <p:spPr>
            <a:xfrm flipH="false" flipV="false" rot="0">
              <a:off x="0" y="0"/>
              <a:ext cx="660400" cy="599754"/>
            </a:xfrm>
            <a:custGeom>
              <a:avLst/>
              <a:gdLst/>
              <a:ahLst/>
              <a:cxnLst/>
              <a:rect r="r" b="b" t="t" l="l"/>
              <a:pathLst>
                <a:path h="599754" w="660400">
                  <a:moveTo>
                    <a:pt x="220252" y="580685"/>
                  </a:moveTo>
                  <a:cubicBezTo>
                    <a:pt x="254109" y="592199"/>
                    <a:pt x="292600" y="599754"/>
                    <a:pt x="330378" y="599754"/>
                  </a:cubicBezTo>
                  <a:cubicBezTo>
                    <a:pt x="368157" y="599754"/>
                    <a:pt x="404509" y="593277"/>
                    <a:pt x="438009" y="581763"/>
                  </a:cubicBezTo>
                  <a:cubicBezTo>
                    <a:pt x="438723" y="581404"/>
                    <a:pt x="439435" y="581404"/>
                    <a:pt x="440148" y="581044"/>
                  </a:cubicBezTo>
                  <a:cubicBezTo>
                    <a:pt x="565955" y="534989"/>
                    <a:pt x="658618" y="413375"/>
                    <a:pt x="660400" y="275984"/>
                  </a:cubicBezTo>
                  <a:lnTo>
                    <a:pt x="660400" y="0"/>
                  </a:lnTo>
                  <a:lnTo>
                    <a:pt x="0" y="0"/>
                  </a:lnTo>
                  <a:lnTo>
                    <a:pt x="0" y="275780"/>
                  </a:lnTo>
                  <a:cubicBezTo>
                    <a:pt x="1782" y="414094"/>
                    <a:pt x="93019" y="535709"/>
                    <a:pt x="220252" y="580685"/>
                  </a:cubicBezTo>
                  <a:close/>
                </a:path>
              </a:pathLst>
            </a:custGeom>
            <a:ln w="190500" cap="sq">
              <a:gradFill>
                <a:gsLst>
                  <a:gs pos="0">
                    <a:srgbClr val="6AD572">
                      <a:alpha val="100000"/>
                    </a:srgbClr>
                  </a:gs>
                  <a:gs pos="100000">
                    <a:srgbClr val="65A6FE">
                      <a:alpha val="100000"/>
                    </a:srgbClr>
                  </a:gs>
                </a:gsLst>
                <a:lin ang="0"/>
              </a:gradFill>
              <a:prstDash val="solid"/>
              <a:miter/>
            </a:ln>
          </p:spPr>
        </p:sp>
        <p:sp>
          <p:nvSpPr>
            <p:cNvPr name="TextBox 4" id="4"/>
            <p:cNvSpPr txBox="true"/>
            <p:nvPr/>
          </p:nvSpPr>
          <p:spPr>
            <a:xfrm>
              <a:off x="0" y="-47625"/>
              <a:ext cx="660400" cy="520379"/>
            </a:xfrm>
            <a:prstGeom prst="rect">
              <a:avLst/>
            </a:prstGeom>
          </p:spPr>
          <p:txBody>
            <a:bodyPr anchor="ctr" rtlCol="false" tIns="50800" lIns="50800" bIns="50800" rIns="50800"/>
            <a:lstStyle/>
            <a:p>
              <a:pPr algn="ctr">
                <a:lnSpc>
                  <a:spcPts val="2488"/>
                </a:lnSpc>
              </a:pPr>
            </a:p>
          </p:txBody>
        </p:sp>
      </p:grpSp>
      <p:sp>
        <p:nvSpPr>
          <p:cNvPr name="Freeform 5" id="5"/>
          <p:cNvSpPr/>
          <p:nvPr/>
        </p:nvSpPr>
        <p:spPr>
          <a:xfrm flipH="false" flipV="false" rot="0">
            <a:off x="3210674" y="755622"/>
            <a:ext cx="9639827" cy="1857858"/>
          </a:xfrm>
          <a:custGeom>
            <a:avLst/>
            <a:gdLst/>
            <a:ahLst/>
            <a:cxnLst/>
            <a:rect r="r" b="b" t="t" l="l"/>
            <a:pathLst>
              <a:path h="1857858" w="9639827">
                <a:moveTo>
                  <a:pt x="0" y="0"/>
                </a:moveTo>
                <a:lnTo>
                  <a:pt x="9639827" y="0"/>
                </a:lnTo>
                <a:lnTo>
                  <a:pt x="9639827" y="1857857"/>
                </a:lnTo>
                <a:lnTo>
                  <a:pt x="0" y="1857857"/>
                </a:lnTo>
                <a:lnTo>
                  <a:pt x="0" y="0"/>
                </a:lnTo>
                <a:close/>
              </a:path>
            </a:pathLst>
          </a:custGeom>
          <a:blipFill>
            <a:blip r:embed="rId2">
              <a:alphaModFix amt="24000"/>
            </a:blip>
            <a:stretch>
              <a:fillRect l="0" t="0" r="0" b="0"/>
            </a:stretch>
          </a:blipFill>
          <a:ln cap="sq">
            <a:noFill/>
            <a:prstDash val="solid"/>
            <a:miter/>
          </a:ln>
        </p:spPr>
      </p:sp>
      <p:sp>
        <p:nvSpPr>
          <p:cNvPr name="Freeform 6" id="6"/>
          <p:cNvSpPr/>
          <p:nvPr/>
        </p:nvSpPr>
        <p:spPr>
          <a:xfrm flipH="false" flipV="false" rot="0">
            <a:off x="5707852" y="992619"/>
            <a:ext cx="4715550" cy="908815"/>
          </a:xfrm>
          <a:custGeom>
            <a:avLst/>
            <a:gdLst/>
            <a:ahLst/>
            <a:cxnLst/>
            <a:rect r="r" b="b" t="t" l="l"/>
            <a:pathLst>
              <a:path h="908815" w="4715550">
                <a:moveTo>
                  <a:pt x="0" y="0"/>
                </a:moveTo>
                <a:lnTo>
                  <a:pt x="4715549" y="0"/>
                </a:lnTo>
                <a:lnTo>
                  <a:pt x="4715549" y="908815"/>
                </a:lnTo>
                <a:lnTo>
                  <a:pt x="0" y="908815"/>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7" id="7"/>
          <p:cNvSpPr/>
          <p:nvPr/>
        </p:nvSpPr>
        <p:spPr>
          <a:xfrm flipH="false" flipV="false" rot="0">
            <a:off x="5755567" y="944904"/>
            <a:ext cx="4715550" cy="908815"/>
          </a:xfrm>
          <a:custGeom>
            <a:avLst/>
            <a:gdLst/>
            <a:ahLst/>
            <a:cxnLst/>
            <a:rect r="r" b="b" t="t" l="l"/>
            <a:pathLst>
              <a:path h="908815" w="4715550">
                <a:moveTo>
                  <a:pt x="0" y="0"/>
                </a:moveTo>
                <a:lnTo>
                  <a:pt x="4715550" y="0"/>
                </a:lnTo>
                <a:lnTo>
                  <a:pt x="4715550" y="908815"/>
                </a:lnTo>
                <a:lnTo>
                  <a:pt x="0" y="908815"/>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8" id="8"/>
          <p:cNvSpPr/>
          <p:nvPr/>
        </p:nvSpPr>
        <p:spPr>
          <a:xfrm flipH="false" flipV="false" rot="0">
            <a:off x="4820399" y="3137354"/>
            <a:ext cx="9639827" cy="1857858"/>
          </a:xfrm>
          <a:custGeom>
            <a:avLst/>
            <a:gdLst/>
            <a:ahLst/>
            <a:cxnLst/>
            <a:rect r="r" b="b" t="t" l="l"/>
            <a:pathLst>
              <a:path h="1857858" w="9639827">
                <a:moveTo>
                  <a:pt x="0" y="0"/>
                </a:moveTo>
                <a:lnTo>
                  <a:pt x="9639827" y="0"/>
                </a:lnTo>
                <a:lnTo>
                  <a:pt x="9639827" y="1857858"/>
                </a:lnTo>
                <a:lnTo>
                  <a:pt x="0" y="1857858"/>
                </a:lnTo>
                <a:lnTo>
                  <a:pt x="0" y="0"/>
                </a:lnTo>
                <a:close/>
              </a:path>
            </a:pathLst>
          </a:custGeom>
          <a:blipFill>
            <a:blip r:embed="rId2">
              <a:alphaModFix amt="24000"/>
            </a:blip>
            <a:stretch>
              <a:fillRect l="0" t="0" r="0" b="0"/>
            </a:stretch>
          </a:blipFill>
          <a:ln cap="sq">
            <a:noFill/>
            <a:prstDash val="solid"/>
            <a:miter/>
          </a:ln>
        </p:spPr>
      </p:sp>
      <p:sp>
        <p:nvSpPr>
          <p:cNvPr name="Freeform 9" id="9"/>
          <p:cNvSpPr/>
          <p:nvPr/>
        </p:nvSpPr>
        <p:spPr>
          <a:xfrm flipH="false" flipV="false" rot="0">
            <a:off x="7317577" y="3374352"/>
            <a:ext cx="4715550" cy="908815"/>
          </a:xfrm>
          <a:custGeom>
            <a:avLst/>
            <a:gdLst/>
            <a:ahLst/>
            <a:cxnLst/>
            <a:rect r="r" b="b" t="t" l="l"/>
            <a:pathLst>
              <a:path h="908815" w="4715550">
                <a:moveTo>
                  <a:pt x="0" y="0"/>
                </a:moveTo>
                <a:lnTo>
                  <a:pt x="4715549" y="0"/>
                </a:lnTo>
                <a:lnTo>
                  <a:pt x="4715549" y="908815"/>
                </a:lnTo>
                <a:lnTo>
                  <a:pt x="0" y="908815"/>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7365292" y="3317112"/>
            <a:ext cx="4965044" cy="956899"/>
          </a:xfrm>
          <a:custGeom>
            <a:avLst/>
            <a:gdLst/>
            <a:ahLst/>
            <a:cxnLst/>
            <a:rect r="r" b="b" t="t" l="l"/>
            <a:pathLst>
              <a:path h="956899" w="4965044">
                <a:moveTo>
                  <a:pt x="0" y="0"/>
                </a:moveTo>
                <a:lnTo>
                  <a:pt x="4965045" y="0"/>
                </a:lnTo>
                <a:lnTo>
                  <a:pt x="4965045" y="956899"/>
                </a:lnTo>
                <a:lnTo>
                  <a:pt x="0" y="956899"/>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4820399" y="5712286"/>
            <a:ext cx="9639827" cy="1857858"/>
          </a:xfrm>
          <a:custGeom>
            <a:avLst/>
            <a:gdLst/>
            <a:ahLst/>
            <a:cxnLst/>
            <a:rect r="r" b="b" t="t" l="l"/>
            <a:pathLst>
              <a:path h="1857858" w="9639827">
                <a:moveTo>
                  <a:pt x="0" y="0"/>
                </a:moveTo>
                <a:lnTo>
                  <a:pt x="9639827" y="0"/>
                </a:lnTo>
                <a:lnTo>
                  <a:pt x="9639827" y="1857858"/>
                </a:lnTo>
                <a:lnTo>
                  <a:pt x="0" y="1857858"/>
                </a:lnTo>
                <a:lnTo>
                  <a:pt x="0" y="0"/>
                </a:lnTo>
                <a:close/>
              </a:path>
            </a:pathLst>
          </a:custGeom>
          <a:blipFill>
            <a:blip r:embed="rId2">
              <a:alphaModFix amt="24000"/>
            </a:blip>
            <a:stretch>
              <a:fillRect l="0" t="0" r="0" b="0"/>
            </a:stretch>
          </a:blipFill>
          <a:ln cap="sq">
            <a:noFill/>
            <a:prstDash val="solid"/>
            <a:miter/>
          </a:ln>
        </p:spPr>
      </p:sp>
      <p:sp>
        <p:nvSpPr>
          <p:cNvPr name="Freeform 12" id="12"/>
          <p:cNvSpPr/>
          <p:nvPr/>
        </p:nvSpPr>
        <p:spPr>
          <a:xfrm flipH="false" flipV="false" rot="0">
            <a:off x="7317577" y="5949284"/>
            <a:ext cx="4715550" cy="908815"/>
          </a:xfrm>
          <a:custGeom>
            <a:avLst/>
            <a:gdLst/>
            <a:ahLst/>
            <a:cxnLst/>
            <a:rect r="r" b="b" t="t" l="l"/>
            <a:pathLst>
              <a:path h="908815" w="4715550">
                <a:moveTo>
                  <a:pt x="0" y="0"/>
                </a:moveTo>
                <a:lnTo>
                  <a:pt x="4715549" y="0"/>
                </a:lnTo>
                <a:lnTo>
                  <a:pt x="4715549" y="908815"/>
                </a:lnTo>
                <a:lnTo>
                  <a:pt x="0" y="908815"/>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3" id="13"/>
          <p:cNvSpPr/>
          <p:nvPr/>
        </p:nvSpPr>
        <p:spPr>
          <a:xfrm flipH="false" flipV="false" rot="0">
            <a:off x="7365292" y="5901569"/>
            <a:ext cx="4715550" cy="908815"/>
          </a:xfrm>
          <a:custGeom>
            <a:avLst/>
            <a:gdLst/>
            <a:ahLst/>
            <a:cxnLst/>
            <a:rect r="r" b="b" t="t" l="l"/>
            <a:pathLst>
              <a:path h="908815" w="4715550">
                <a:moveTo>
                  <a:pt x="0" y="0"/>
                </a:moveTo>
                <a:lnTo>
                  <a:pt x="4715550" y="0"/>
                </a:lnTo>
                <a:lnTo>
                  <a:pt x="4715550" y="908815"/>
                </a:lnTo>
                <a:lnTo>
                  <a:pt x="0" y="908815"/>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4" id="14"/>
          <p:cNvSpPr/>
          <p:nvPr/>
        </p:nvSpPr>
        <p:spPr>
          <a:xfrm flipH="false" flipV="false" rot="0">
            <a:off x="3210674" y="8096718"/>
            <a:ext cx="9639827" cy="1857858"/>
          </a:xfrm>
          <a:custGeom>
            <a:avLst/>
            <a:gdLst/>
            <a:ahLst/>
            <a:cxnLst/>
            <a:rect r="r" b="b" t="t" l="l"/>
            <a:pathLst>
              <a:path h="1857858" w="9639827">
                <a:moveTo>
                  <a:pt x="0" y="0"/>
                </a:moveTo>
                <a:lnTo>
                  <a:pt x="9639827" y="0"/>
                </a:lnTo>
                <a:lnTo>
                  <a:pt x="9639827" y="1857858"/>
                </a:lnTo>
                <a:lnTo>
                  <a:pt x="0" y="1857858"/>
                </a:lnTo>
                <a:lnTo>
                  <a:pt x="0" y="0"/>
                </a:lnTo>
                <a:close/>
              </a:path>
            </a:pathLst>
          </a:custGeom>
          <a:blipFill>
            <a:blip r:embed="rId2">
              <a:alphaModFix amt="24000"/>
            </a:blip>
            <a:stretch>
              <a:fillRect l="0" t="0" r="0" b="0"/>
            </a:stretch>
          </a:blipFill>
          <a:ln cap="sq">
            <a:noFill/>
            <a:prstDash val="solid"/>
            <a:miter/>
          </a:ln>
        </p:spPr>
      </p:sp>
      <p:sp>
        <p:nvSpPr>
          <p:cNvPr name="Freeform 15" id="15"/>
          <p:cNvSpPr/>
          <p:nvPr/>
        </p:nvSpPr>
        <p:spPr>
          <a:xfrm flipH="false" flipV="false" rot="0">
            <a:off x="5707852" y="8333716"/>
            <a:ext cx="4715550" cy="908815"/>
          </a:xfrm>
          <a:custGeom>
            <a:avLst/>
            <a:gdLst/>
            <a:ahLst/>
            <a:cxnLst/>
            <a:rect r="r" b="b" t="t" l="l"/>
            <a:pathLst>
              <a:path h="908815" w="4715550">
                <a:moveTo>
                  <a:pt x="0" y="0"/>
                </a:moveTo>
                <a:lnTo>
                  <a:pt x="4715549" y="0"/>
                </a:lnTo>
                <a:lnTo>
                  <a:pt x="4715549" y="908815"/>
                </a:lnTo>
                <a:lnTo>
                  <a:pt x="0" y="908815"/>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6" id="16"/>
          <p:cNvSpPr/>
          <p:nvPr/>
        </p:nvSpPr>
        <p:spPr>
          <a:xfrm flipH="false" flipV="false" rot="0">
            <a:off x="5755567" y="8286000"/>
            <a:ext cx="4715550" cy="908815"/>
          </a:xfrm>
          <a:custGeom>
            <a:avLst/>
            <a:gdLst/>
            <a:ahLst/>
            <a:cxnLst/>
            <a:rect r="r" b="b" t="t" l="l"/>
            <a:pathLst>
              <a:path h="908815" w="4715550">
                <a:moveTo>
                  <a:pt x="0" y="0"/>
                </a:moveTo>
                <a:lnTo>
                  <a:pt x="4715550" y="0"/>
                </a:lnTo>
                <a:lnTo>
                  <a:pt x="4715550" y="908815"/>
                </a:lnTo>
                <a:lnTo>
                  <a:pt x="0" y="908815"/>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sp>
        <p:nvSpPr>
          <p:cNvPr name="Freeform 17" id="17"/>
          <p:cNvSpPr/>
          <p:nvPr/>
        </p:nvSpPr>
        <p:spPr>
          <a:xfrm flipH="false" flipV="false" rot="0">
            <a:off x="6022222" y="1171569"/>
            <a:ext cx="455484" cy="455484"/>
          </a:xfrm>
          <a:custGeom>
            <a:avLst/>
            <a:gdLst/>
            <a:ahLst/>
            <a:cxnLst/>
            <a:rect r="r" b="b" t="t" l="l"/>
            <a:pathLst>
              <a:path h="455484" w="455484">
                <a:moveTo>
                  <a:pt x="0" y="0"/>
                </a:moveTo>
                <a:lnTo>
                  <a:pt x="455484" y="0"/>
                </a:lnTo>
                <a:lnTo>
                  <a:pt x="455484" y="455485"/>
                </a:lnTo>
                <a:lnTo>
                  <a:pt x="0" y="455485"/>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sp>
        <p:nvSpPr>
          <p:cNvPr name="Freeform 18" id="18"/>
          <p:cNvSpPr/>
          <p:nvPr/>
        </p:nvSpPr>
        <p:spPr>
          <a:xfrm flipH="false" flipV="false" rot="0">
            <a:off x="7648333" y="3543777"/>
            <a:ext cx="455484" cy="455484"/>
          </a:xfrm>
          <a:custGeom>
            <a:avLst/>
            <a:gdLst/>
            <a:ahLst/>
            <a:cxnLst/>
            <a:rect r="r" b="b" t="t" l="l"/>
            <a:pathLst>
              <a:path h="455484" w="455484">
                <a:moveTo>
                  <a:pt x="0" y="0"/>
                </a:moveTo>
                <a:lnTo>
                  <a:pt x="455484" y="0"/>
                </a:lnTo>
                <a:lnTo>
                  <a:pt x="455484" y="455484"/>
                </a:lnTo>
                <a:lnTo>
                  <a:pt x="0" y="455484"/>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sp>
        <p:nvSpPr>
          <p:cNvPr name="Freeform 19" id="19"/>
          <p:cNvSpPr/>
          <p:nvPr/>
        </p:nvSpPr>
        <p:spPr>
          <a:xfrm flipH="false" flipV="false" rot="0">
            <a:off x="6022222" y="8512666"/>
            <a:ext cx="455484" cy="455484"/>
          </a:xfrm>
          <a:custGeom>
            <a:avLst/>
            <a:gdLst/>
            <a:ahLst/>
            <a:cxnLst/>
            <a:rect r="r" b="b" t="t" l="l"/>
            <a:pathLst>
              <a:path h="455484" w="455484">
                <a:moveTo>
                  <a:pt x="0" y="0"/>
                </a:moveTo>
                <a:lnTo>
                  <a:pt x="455484" y="0"/>
                </a:lnTo>
                <a:lnTo>
                  <a:pt x="455484" y="455484"/>
                </a:lnTo>
                <a:lnTo>
                  <a:pt x="0" y="455484"/>
                </a:lnTo>
                <a:lnTo>
                  <a:pt x="0" y="0"/>
                </a:lnTo>
                <a:close/>
              </a:path>
            </a:pathLst>
          </a:custGeom>
          <a:blipFill>
            <a:blip r:embed="rId23">
              <a:extLst>
                <a:ext uri="{96DAC541-7B7A-43D3-8B79-37D633B846F1}">
                  <asvg:svgBlip xmlns:asvg="http://schemas.microsoft.com/office/drawing/2016/SVG/main" r:embed="rId24"/>
                </a:ext>
              </a:extLst>
            </a:blip>
            <a:stretch>
              <a:fillRect l="0" t="0" r="0" b="0"/>
            </a:stretch>
          </a:blipFill>
        </p:spPr>
      </p:sp>
      <p:sp>
        <p:nvSpPr>
          <p:cNvPr name="Freeform 20" id="20"/>
          <p:cNvSpPr/>
          <p:nvPr/>
        </p:nvSpPr>
        <p:spPr>
          <a:xfrm flipH="false" flipV="false" rot="0">
            <a:off x="7648333" y="6118709"/>
            <a:ext cx="455484" cy="455484"/>
          </a:xfrm>
          <a:custGeom>
            <a:avLst/>
            <a:gdLst/>
            <a:ahLst/>
            <a:cxnLst/>
            <a:rect r="r" b="b" t="t" l="l"/>
            <a:pathLst>
              <a:path h="455484" w="455484">
                <a:moveTo>
                  <a:pt x="0" y="0"/>
                </a:moveTo>
                <a:lnTo>
                  <a:pt x="455484" y="0"/>
                </a:lnTo>
                <a:lnTo>
                  <a:pt x="455484" y="455484"/>
                </a:lnTo>
                <a:lnTo>
                  <a:pt x="0" y="455484"/>
                </a:lnTo>
                <a:lnTo>
                  <a:pt x="0" y="0"/>
                </a:lnTo>
                <a:close/>
              </a:path>
            </a:pathLst>
          </a:custGeom>
          <a:blipFill>
            <a:blip r:embed="rId25">
              <a:extLst>
                <a:ext uri="{96DAC541-7B7A-43D3-8B79-37D633B846F1}">
                  <asvg:svgBlip xmlns:asvg="http://schemas.microsoft.com/office/drawing/2016/SVG/main" r:embed="rId26"/>
                </a:ext>
              </a:extLst>
            </a:blip>
            <a:stretch>
              <a:fillRect l="0" t="0" r="0" b="0"/>
            </a:stretch>
          </a:blipFill>
        </p:spPr>
      </p:sp>
      <p:sp>
        <p:nvSpPr>
          <p:cNvPr name="Freeform 21" id="21"/>
          <p:cNvSpPr/>
          <p:nvPr/>
        </p:nvSpPr>
        <p:spPr>
          <a:xfrm flipH="false" flipV="false" rot="0">
            <a:off x="10505764" y="5919359"/>
            <a:ext cx="7645761" cy="4367641"/>
          </a:xfrm>
          <a:custGeom>
            <a:avLst/>
            <a:gdLst/>
            <a:ahLst/>
            <a:cxnLst/>
            <a:rect r="r" b="b" t="t" l="l"/>
            <a:pathLst>
              <a:path h="4367641" w="7645761">
                <a:moveTo>
                  <a:pt x="0" y="0"/>
                </a:moveTo>
                <a:lnTo>
                  <a:pt x="7645761" y="0"/>
                </a:lnTo>
                <a:lnTo>
                  <a:pt x="7645761" y="4367641"/>
                </a:lnTo>
                <a:lnTo>
                  <a:pt x="0" y="4367641"/>
                </a:lnTo>
                <a:lnTo>
                  <a:pt x="0" y="0"/>
                </a:lnTo>
                <a:close/>
              </a:path>
            </a:pathLst>
          </a:custGeom>
          <a:blipFill>
            <a:blip r:embed="rId27"/>
            <a:stretch>
              <a:fillRect l="0" t="0" r="0" b="0"/>
            </a:stretch>
          </a:blipFill>
        </p:spPr>
      </p:sp>
      <p:sp>
        <p:nvSpPr>
          <p:cNvPr name="TextBox 22" id="22"/>
          <p:cNvSpPr txBox="true"/>
          <p:nvPr/>
        </p:nvSpPr>
        <p:spPr>
          <a:xfrm rot="0">
            <a:off x="7036254" y="1203520"/>
            <a:ext cx="3039030" cy="382058"/>
          </a:xfrm>
          <a:prstGeom prst="rect">
            <a:avLst/>
          </a:prstGeom>
        </p:spPr>
        <p:txBody>
          <a:bodyPr anchor="t" rtlCol="false" tIns="0" lIns="0" bIns="0" rIns="0">
            <a:spAutoFit/>
          </a:bodyPr>
          <a:lstStyle/>
          <a:p>
            <a:pPr algn="l">
              <a:lnSpc>
                <a:spcPts val="2916"/>
              </a:lnSpc>
            </a:pPr>
            <a:r>
              <a:rPr lang="en-US" sz="2499" b="true">
                <a:solidFill>
                  <a:srgbClr val="041F60"/>
                </a:solidFill>
                <a:latin typeface="Gotham Bold"/>
                <a:ea typeface="Gotham Bold"/>
                <a:cs typeface="Gotham Bold"/>
                <a:sym typeface="Gotham Bold"/>
              </a:rPr>
              <a:t>Linear Regression </a:t>
            </a:r>
          </a:p>
        </p:txBody>
      </p:sp>
      <p:sp>
        <p:nvSpPr>
          <p:cNvPr name="TextBox 23" id="23"/>
          <p:cNvSpPr txBox="true"/>
          <p:nvPr/>
        </p:nvSpPr>
        <p:spPr>
          <a:xfrm rot="0">
            <a:off x="7036254" y="8544616"/>
            <a:ext cx="3039030" cy="382058"/>
          </a:xfrm>
          <a:prstGeom prst="rect">
            <a:avLst/>
          </a:prstGeom>
        </p:spPr>
        <p:txBody>
          <a:bodyPr anchor="t" rtlCol="false" tIns="0" lIns="0" bIns="0" rIns="0">
            <a:spAutoFit/>
          </a:bodyPr>
          <a:lstStyle/>
          <a:p>
            <a:pPr algn="l">
              <a:lnSpc>
                <a:spcPts val="2916"/>
              </a:lnSpc>
            </a:pPr>
            <a:r>
              <a:rPr lang="en-US" sz="2499" b="true">
                <a:solidFill>
                  <a:srgbClr val="041F60"/>
                </a:solidFill>
                <a:latin typeface="Gotham Bold"/>
                <a:ea typeface="Gotham Bold"/>
                <a:cs typeface="Gotham Bold"/>
                <a:sym typeface="Gotham Bold"/>
              </a:rPr>
              <a:t>R2 Score</a:t>
            </a:r>
          </a:p>
        </p:txBody>
      </p:sp>
      <p:sp>
        <p:nvSpPr>
          <p:cNvPr name="TextBox 24" id="24"/>
          <p:cNvSpPr txBox="true"/>
          <p:nvPr/>
        </p:nvSpPr>
        <p:spPr>
          <a:xfrm rot="0">
            <a:off x="8640608" y="6160184"/>
            <a:ext cx="3039030" cy="382058"/>
          </a:xfrm>
          <a:prstGeom prst="rect">
            <a:avLst/>
          </a:prstGeom>
        </p:spPr>
        <p:txBody>
          <a:bodyPr anchor="t" rtlCol="false" tIns="0" lIns="0" bIns="0" rIns="0">
            <a:spAutoFit/>
          </a:bodyPr>
          <a:lstStyle/>
          <a:p>
            <a:pPr algn="l">
              <a:lnSpc>
                <a:spcPts val="2916"/>
              </a:lnSpc>
            </a:pPr>
            <a:r>
              <a:rPr lang="en-US" sz="2499" b="true">
                <a:solidFill>
                  <a:srgbClr val="041F60"/>
                </a:solidFill>
                <a:latin typeface="Gotham Bold"/>
                <a:ea typeface="Gotham Bold"/>
                <a:cs typeface="Gotham Bold"/>
                <a:sym typeface="Gotham Bold"/>
              </a:rPr>
              <a:t>Random Forest</a:t>
            </a:r>
          </a:p>
        </p:txBody>
      </p:sp>
      <p:sp>
        <p:nvSpPr>
          <p:cNvPr name="TextBox 25" id="25"/>
          <p:cNvSpPr txBox="true"/>
          <p:nvPr/>
        </p:nvSpPr>
        <p:spPr>
          <a:xfrm rot="0">
            <a:off x="8496577" y="3585253"/>
            <a:ext cx="4094575" cy="382058"/>
          </a:xfrm>
          <a:prstGeom prst="rect">
            <a:avLst/>
          </a:prstGeom>
        </p:spPr>
        <p:txBody>
          <a:bodyPr anchor="t" rtlCol="false" tIns="0" lIns="0" bIns="0" rIns="0">
            <a:spAutoFit/>
          </a:bodyPr>
          <a:lstStyle/>
          <a:p>
            <a:pPr algn="l">
              <a:lnSpc>
                <a:spcPts val="2916"/>
              </a:lnSpc>
            </a:pPr>
            <a:r>
              <a:rPr lang="en-US" sz="2499" b="true">
                <a:solidFill>
                  <a:srgbClr val="041F60"/>
                </a:solidFill>
                <a:latin typeface="Gotham Bold"/>
                <a:ea typeface="Gotham Bold"/>
                <a:cs typeface="Gotham Bold"/>
                <a:sym typeface="Gotham Bold"/>
              </a:rPr>
              <a:t>Polynomial Regression</a:t>
            </a:r>
          </a:p>
        </p:txBody>
      </p:sp>
      <p:sp>
        <p:nvSpPr>
          <p:cNvPr name="TextBox 26" id="26"/>
          <p:cNvSpPr txBox="true"/>
          <p:nvPr/>
        </p:nvSpPr>
        <p:spPr>
          <a:xfrm rot="0">
            <a:off x="1346159" y="2928741"/>
            <a:ext cx="5690095" cy="2811023"/>
          </a:xfrm>
          <a:prstGeom prst="rect">
            <a:avLst/>
          </a:prstGeom>
        </p:spPr>
        <p:txBody>
          <a:bodyPr anchor="t" rtlCol="false" tIns="0" lIns="0" bIns="0" rIns="0">
            <a:spAutoFit/>
          </a:bodyPr>
          <a:lstStyle/>
          <a:p>
            <a:pPr algn="l">
              <a:lnSpc>
                <a:spcPts val="7369"/>
              </a:lnSpc>
            </a:pPr>
            <a:r>
              <a:rPr lang="en-US" sz="6288" b="true">
                <a:solidFill>
                  <a:srgbClr val="041F60"/>
                </a:solidFill>
                <a:latin typeface="Gotham Bold"/>
                <a:ea typeface="Gotham Bold"/>
                <a:cs typeface="Gotham Bold"/>
                <a:sym typeface="Gotham Bold"/>
              </a:rPr>
              <a:t>House Price Prediction ML model </a:t>
            </a:r>
          </a:p>
        </p:txBody>
      </p:sp>
      <p:sp>
        <p:nvSpPr>
          <p:cNvPr name="TextBox 27" id="27"/>
          <p:cNvSpPr txBox="true"/>
          <p:nvPr/>
        </p:nvSpPr>
        <p:spPr>
          <a:xfrm rot="0">
            <a:off x="1364452" y="5962688"/>
            <a:ext cx="4343400" cy="611505"/>
          </a:xfrm>
          <a:prstGeom prst="rect">
            <a:avLst/>
          </a:prstGeom>
        </p:spPr>
        <p:txBody>
          <a:bodyPr anchor="t" rtlCol="false" tIns="0" lIns="0" bIns="0" rIns="0">
            <a:spAutoFit/>
          </a:bodyPr>
          <a:lstStyle/>
          <a:p>
            <a:pPr algn="l">
              <a:lnSpc>
                <a:spcPts val="2520"/>
              </a:lnSpc>
              <a:spcBef>
                <a:spcPct val="0"/>
              </a:spcBef>
            </a:pPr>
            <a:r>
              <a:rPr lang="en-US" sz="1800">
                <a:solidFill>
                  <a:srgbClr val="667198"/>
                </a:solidFill>
                <a:latin typeface="Canva Sans"/>
                <a:ea typeface="Canva Sans"/>
                <a:cs typeface="Canva Sans"/>
                <a:sym typeface="Canva Sans"/>
              </a:rPr>
              <a:t>Machin</a:t>
            </a:r>
            <a:r>
              <a:rPr lang="en-US" sz="1800">
                <a:solidFill>
                  <a:srgbClr val="667198"/>
                </a:solidFill>
                <a:latin typeface="Canva Sans"/>
                <a:ea typeface="Canva Sans"/>
                <a:cs typeface="Canva Sans"/>
                <a:sym typeface="Canva Sans"/>
              </a:rPr>
              <a:t>e Learning Model on Housing Dataset</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3F4FA"/>
        </a:solidFill>
      </p:bgPr>
    </p:bg>
    <p:spTree>
      <p:nvGrpSpPr>
        <p:cNvPr id="1" name=""/>
        <p:cNvGrpSpPr/>
        <p:nvPr/>
      </p:nvGrpSpPr>
      <p:grpSpPr>
        <a:xfrm>
          <a:off x="0" y="0"/>
          <a:ext cx="0" cy="0"/>
          <a:chOff x="0" y="0"/>
          <a:chExt cx="0" cy="0"/>
        </a:xfrm>
      </p:grpSpPr>
      <p:sp>
        <p:nvSpPr>
          <p:cNvPr name="Freeform 2" id="2"/>
          <p:cNvSpPr/>
          <p:nvPr/>
        </p:nvSpPr>
        <p:spPr>
          <a:xfrm>
            <a:off x="3453316" y="5220663"/>
            <a:ext cx="6455264" cy="2412299"/>
          </a:xfrm>
          <a:custGeom>
            <a:avLst/>
            <a:gdLst/>
            <a:ahLst/>
            <a:cxnLst/>
            <a:rect r="r" b="b" t="t" l="l"/>
            <a:pathLst>
              <a:path h="2412299" w="6455264">
                <a:moveTo>
                  <a:pt x="0" y="2293346"/>
                </a:moveTo>
                <a:quadBezTo>
                  <a:pt x="3867577" y="2947976"/>
                  <a:pt x="6455265" y="0"/>
                </a:quadBezTo>
              </a:path>
            </a:pathLst>
          </a:custGeom>
          <a:ln cap="flat" w="200025">
            <a:solidFill>
              <a:srgbClr val="65A6FE"/>
            </a:solidFill>
            <a:prstDash val="solid"/>
            <a:headEnd type="none" len="sm" w="sm"/>
            <a:tailEnd type="none" len="sm" w="sm"/>
          </a:ln>
        </p:spPr>
      </p:sp>
      <p:sp>
        <p:nvSpPr>
          <p:cNvPr name="Freeform 3" id="3"/>
          <p:cNvSpPr/>
          <p:nvPr/>
        </p:nvSpPr>
        <p:spPr>
          <a:xfrm>
            <a:off x="15718165" y="1049319"/>
            <a:ext cx="3542550" cy="1955682"/>
          </a:xfrm>
          <a:custGeom>
            <a:avLst/>
            <a:gdLst/>
            <a:ahLst/>
            <a:cxnLst/>
            <a:rect r="r" b="b" t="t" l="l"/>
            <a:pathLst>
              <a:path h="1955682" w="3542550">
                <a:moveTo>
                  <a:pt x="0" y="1905307"/>
                </a:moveTo>
                <a:quadBezTo>
                  <a:pt x="2640320" y="2269557"/>
                  <a:pt x="3542550" y="0"/>
                </a:quadBezTo>
              </a:path>
            </a:pathLst>
          </a:custGeom>
          <a:ln cap="flat" w="200025">
            <a:gradFill>
              <a:gsLst>
                <a:gs pos="0">
                  <a:srgbClr val="6AD572">
                    <a:alpha val="100000"/>
                  </a:srgbClr>
                </a:gs>
                <a:gs pos="50000">
                  <a:srgbClr val="6AD572">
                    <a:alpha val="0"/>
                  </a:srgbClr>
                </a:gs>
                <a:gs pos="100000">
                  <a:srgbClr val="6AD572">
                    <a:alpha val="0"/>
                  </a:srgbClr>
                </a:gs>
              </a:gsLst>
              <a:lin ang="0"/>
            </a:gradFill>
            <a:prstDash val="solid"/>
            <a:headEnd type="none" len="sm" w="sm"/>
            <a:tailEnd type="none" len="sm" w="sm"/>
          </a:ln>
        </p:spPr>
      </p:sp>
      <p:sp>
        <p:nvSpPr>
          <p:cNvPr name="Freeform 4" id="4"/>
          <p:cNvSpPr/>
          <p:nvPr/>
        </p:nvSpPr>
        <p:spPr>
          <a:xfrm>
            <a:off x="-3795197" y="7283449"/>
            <a:ext cx="7258344" cy="1540983"/>
          </a:xfrm>
          <a:custGeom>
            <a:avLst/>
            <a:gdLst/>
            <a:ahLst/>
            <a:cxnLst/>
            <a:rect r="r" b="b" t="t" l="l"/>
            <a:pathLst>
              <a:path h="1540983" w="7258344">
                <a:moveTo>
                  <a:pt x="7258344" y="230679"/>
                </a:moveTo>
                <a:quadBezTo>
                  <a:pt x="2830989" y="-596214"/>
                  <a:pt x="0" y="1540983"/>
                </a:quadBezTo>
              </a:path>
            </a:pathLst>
          </a:custGeom>
          <a:ln cap="flat" w="200025">
            <a:gradFill>
              <a:gsLst>
                <a:gs pos="0">
                  <a:srgbClr val="65A6FE">
                    <a:alpha val="100000"/>
                  </a:srgbClr>
                </a:gs>
                <a:gs pos="50000">
                  <a:srgbClr val="65A6FE">
                    <a:alpha val="0"/>
                  </a:srgbClr>
                </a:gs>
                <a:gs pos="100000">
                  <a:srgbClr val="65A6FE">
                    <a:alpha val="0"/>
                  </a:srgbClr>
                </a:gs>
              </a:gsLst>
              <a:lin ang="0"/>
            </a:gradFill>
            <a:prstDash val="solid"/>
            <a:headEnd type="none" len="sm" w="sm"/>
            <a:tailEnd type="none" len="sm" w="sm"/>
          </a:ln>
        </p:spPr>
      </p:sp>
      <p:sp>
        <p:nvSpPr>
          <p:cNvPr name="Freeform 5" id="5"/>
          <p:cNvSpPr/>
          <p:nvPr/>
        </p:nvSpPr>
        <p:spPr>
          <a:xfrm>
            <a:off x="9842363" y="2841848"/>
            <a:ext cx="5885628" cy="2463410"/>
          </a:xfrm>
          <a:custGeom>
            <a:avLst/>
            <a:gdLst/>
            <a:ahLst/>
            <a:cxnLst/>
            <a:rect r="r" b="b" t="t" l="l"/>
            <a:pathLst>
              <a:path h="2463410" w="5885628">
                <a:moveTo>
                  <a:pt x="5885629" y="111506"/>
                </a:moveTo>
                <a:quadBezTo>
                  <a:pt x="2218912" y="-524105"/>
                  <a:pt x="0" y="2463409"/>
                </a:quadBezTo>
              </a:path>
            </a:pathLst>
          </a:custGeom>
          <a:ln cap="flat" w="200025">
            <a:gradFill>
              <a:gsLst>
                <a:gs pos="0">
                  <a:srgbClr val="6AD572">
                    <a:alpha val="100000"/>
                  </a:srgbClr>
                </a:gs>
                <a:gs pos="50000">
                  <a:srgbClr val="6AD572">
                    <a:alpha val="100000"/>
                  </a:srgbClr>
                </a:gs>
                <a:gs pos="100000">
                  <a:srgbClr val="65A6FE">
                    <a:alpha val="100000"/>
                  </a:srgbClr>
                </a:gs>
              </a:gsLst>
              <a:lin ang="0"/>
            </a:gradFill>
            <a:prstDash val="solid"/>
            <a:headEnd type="none" len="sm" w="sm"/>
            <a:tailEnd type="none" len="sm" w="sm"/>
          </a:ln>
        </p:spPr>
      </p:sp>
      <p:grpSp>
        <p:nvGrpSpPr>
          <p:cNvPr name="Group 6" id="6"/>
          <p:cNvGrpSpPr/>
          <p:nvPr/>
        </p:nvGrpSpPr>
        <p:grpSpPr>
          <a:xfrm rot="0">
            <a:off x="7889281" y="6075385"/>
            <a:ext cx="1065137" cy="1093203"/>
            <a:chOff x="0" y="0"/>
            <a:chExt cx="1420183" cy="1457603"/>
          </a:xfrm>
        </p:grpSpPr>
        <p:sp>
          <p:nvSpPr>
            <p:cNvPr name="Freeform 7" id="7"/>
            <p:cNvSpPr/>
            <p:nvPr/>
          </p:nvSpPr>
          <p:spPr>
            <a:xfrm flipH="false" flipV="false" rot="0">
              <a:off x="0" y="101571"/>
              <a:ext cx="1420183" cy="1356032"/>
            </a:xfrm>
            <a:custGeom>
              <a:avLst/>
              <a:gdLst/>
              <a:ahLst/>
              <a:cxnLst/>
              <a:rect r="r" b="b" t="t" l="l"/>
              <a:pathLst>
                <a:path h="1356032" w="1420183">
                  <a:moveTo>
                    <a:pt x="0" y="0"/>
                  </a:moveTo>
                  <a:lnTo>
                    <a:pt x="1420183" y="0"/>
                  </a:lnTo>
                  <a:lnTo>
                    <a:pt x="1420183" y="1356032"/>
                  </a:lnTo>
                  <a:lnTo>
                    <a:pt x="0" y="1356032"/>
                  </a:lnTo>
                  <a:lnTo>
                    <a:pt x="0" y="0"/>
                  </a:lnTo>
                  <a:close/>
                </a:path>
              </a:pathLst>
            </a:custGeom>
            <a:blipFill>
              <a:blip r:embed="rId2">
                <a:alphaModFix amt="24000"/>
              </a:blip>
              <a:stretch>
                <a:fillRect l="-2325" t="-2060" r="-2325" b="-2060"/>
              </a:stretch>
            </a:blipFill>
            <a:ln cap="sq">
              <a:noFill/>
              <a:prstDash val="solid"/>
              <a:miter/>
            </a:ln>
          </p:spPr>
        </p:sp>
        <p:sp>
          <p:nvSpPr>
            <p:cNvPr name="Freeform 8" id="8"/>
            <p:cNvSpPr/>
            <p:nvPr/>
          </p:nvSpPr>
          <p:spPr>
            <a:xfrm flipH="false" flipV="false" rot="0">
              <a:off x="70746" y="81645"/>
              <a:ext cx="1278690" cy="1214756"/>
            </a:xfrm>
            <a:custGeom>
              <a:avLst/>
              <a:gdLst/>
              <a:ahLst/>
              <a:cxnLst/>
              <a:rect r="r" b="b" t="t" l="l"/>
              <a:pathLst>
                <a:path h="1214756" w="1278690">
                  <a:moveTo>
                    <a:pt x="0" y="0"/>
                  </a:moveTo>
                  <a:lnTo>
                    <a:pt x="1278691" y="0"/>
                  </a:lnTo>
                  <a:lnTo>
                    <a:pt x="1278691" y="1214756"/>
                  </a:lnTo>
                  <a:lnTo>
                    <a:pt x="0" y="12147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70746" y="0"/>
              <a:ext cx="1278690" cy="1214756"/>
            </a:xfrm>
            <a:custGeom>
              <a:avLst/>
              <a:gdLst/>
              <a:ahLst/>
              <a:cxnLst/>
              <a:rect r="r" b="b" t="t" l="l"/>
              <a:pathLst>
                <a:path h="1214756" w="1278690">
                  <a:moveTo>
                    <a:pt x="0" y="0"/>
                  </a:moveTo>
                  <a:lnTo>
                    <a:pt x="1278691" y="0"/>
                  </a:lnTo>
                  <a:lnTo>
                    <a:pt x="1278691" y="1214756"/>
                  </a:lnTo>
                  <a:lnTo>
                    <a:pt x="0" y="12147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10" id="10"/>
          <p:cNvGrpSpPr/>
          <p:nvPr/>
        </p:nvGrpSpPr>
        <p:grpSpPr>
          <a:xfrm rot="0">
            <a:off x="13639800" y="2278328"/>
            <a:ext cx="1065137" cy="1093203"/>
            <a:chOff x="0" y="0"/>
            <a:chExt cx="1420183" cy="1457603"/>
          </a:xfrm>
        </p:grpSpPr>
        <p:sp>
          <p:nvSpPr>
            <p:cNvPr name="Freeform 11" id="11"/>
            <p:cNvSpPr/>
            <p:nvPr/>
          </p:nvSpPr>
          <p:spPr>
            <a:xfrm flipH="false" flipV="false" rot="0">
              <a:off x="0" y="101571"/>
              <a:ext cx="1420183" cy="1356032"/>
            </a:xfrm>
            <a:custGeom>
              <a:avLst/>
              <a:gdLst/>
              <a:ahLst/>
              <a:cxnLst/>
              <a:rect r="r" b="b" t="t" l="l"/>
              <a:pathLst>
                <a:path h="1356032" w="1420183">
                  <a:moveTo>
                    <a:pt x="0" y="0"/>
                  </a:moveTo>
                  <a:lnTo>
                    <a:pt x="1420183" y="0"/>
                  </a:lnTo>
                  <a:lnTo>
                    <a:pt x="1420183" y="1356032"/>
                  </a:lnTo>
                  <a:lnTo>
                    <a:pt x="0" y="1356032"/>
                  </a:lnTo>
                  <a:lnTo>
                    <a:pt x="0" y="0"/>
                  </a:lnTo>
                  <a:close/>
                </a:path>
              </a:pathLst>
            </a:custGeom>
            <a:blipFill>
              <a:blip r:embed="rId2">
                <a:alphaModFix amt="24000"/>
              </a:blip>
              <a:stretch>
                <a:fillRect l="-2325" t="-2060" r="-2325" b="-2060"/>
              </a:stretch>
            </a:blipFill>
            <a:ln cap="sq">
              <a:noFill/>
              <a:prstDash val="solid"/>
              <a:miter/>
            </a:ln>
          </p:spPr>
        </p:sp>
        <p:sp>
          <p:nvSpPr>
            <p:cNvPr name="Freeform 12" id="12"/>
            <p:cNvSpPr/>
            <p:nvPr/>
          </p:nvSpPr>
          <p:spPr>
            <a:xfrm flipH="false" flipV="false" rot="0">
              <a:off x="70746" y="81645"/>
              <a:ext cx="1278690" cy="1214756"/>
            </a:xfrm>
            <a:custGeom>
              <a:avLst/>
              <a:gdLst/>
              <a:ahLst/>
              <a:cxnLst/>
              <a:rect r="r" b="b" t="t" l="l"/>
              <a:pathLst>
                <a:path h="1214756" w="1278690">
                  <a:moveTo>
                    <a:pt x="0" y="0"/>
                  </a:moveTo>
                  <a:lnTo>
                    <a:pt x="1278691" y="0"/>
                  </a:lnTo>
                  <a:lnTo>
                    <a:pt x="1278691" y="1214756"/>
                  </a:lnTo>
                  <a:lnTo>
                    <a:pt x="0" y="12147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3" id="13"/>
            <p:cNvSpPr/>
            <p:nvPr/>
          </p:nvSpPr>
          <p:spPr>
            <a:xfrm flipH="false" flipV="false" rot="0">
              <a:off x="70746" y="0"/>
              <a:ext cx="1278690" cy="1214756"/>
            </a:xfrm>
            <a:custGeom>
              <a:avLst/>
              <a:gdLst/>
              <a:ahLst/>
              <a:cxnLst/>
              <a:rect r="r" b="b" t="t" l="l"/>
              <a:pathLst>
                <a:path h="1214756" w="1278690">
                  <a:moveTo>
                    <a:pt x="0" y="0"/>
                  </a:moveTo>
                  <a:lnTo>
                    <a:pt x="1278691" y="0"/>
                  </a:lnTo>
                  <a:lnTo>
                    <a:pt x="1278691" y="1214756"/>
                  </a:lnTo>
                  <a:lnTo>
                    <a:pt x="0" y="12147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grpSp>
        <p:nvGrpSpPr>
          <p:cNvPr name="Group 14" id="14"/>
          <p:cNvGrpSpPr/>
          <p:nvPr/>
        </p:nvGrpSpPr>
        <p:grpSpPr>
          <a:xfrm rot="0">
            <a:off x="2057400" y="6830488"/>
            <a:ext cx="1065137" cy="1093203"/>
            <a:chOff x="0" y="0"/>
            <a:chExt cx="1420183" cy="1457603"/>
          </a:xfrm>
        </p:grpSpPr>
        <p:sp>
          <p:nvSpPr>
            <p:cNvPr name="Freeform 15" id="15"/>
            <p:cNvSpPr/>
            <p:nvPr/>
          </p:nvSpPr>
          <p:spPr>
            <a:xfrm flipH="false" flipV="false" rot="0">
              <a:off x="0" y="101571"/>
              <a:ext cx="1420183" cy="1356032"/>
            </a:xfrm>
            <a:custGeom>
              <a:avLst/>
              <a:gdLst/>
              <a:ahLst/>
              <a:cxnLst/>
              <a:rect r="r" b="b" t="t" l="l"/>
              <a:pathLst>
                <a:path h="1356032" w="1420183">
                  <a:moveTo>
                    <a:pt x="0" y="0"/>
                  </a:moveTo>
                  <a:lnTo>
                    <a:pt x="1420183" y="0"/>
                  </a:lnTo>
                  <a:lnTo>
                    <a:pt x="1420183" y="1356032"/>
                  </a:lnTo>
                  <a:lnTo>
                    <a:pt x="0" y="1356032"/>
                  </a:lnTo>
                  <a:lnTo>
                    <a:pt x="0" y="0"/>
                  </a:lnTo>
                  <a:close/>
                </a:path>
              </a:pathLst>
            </a:custGeom>
            <a:blipFill>
              <a:blip r:embed="rId2">
                <a:alphaModFix amt="24000"/>
              </a:blip>
              <a:stretch>
                <a:fillRect l="-2325" t="-2060" r="-2325" b="-2060"/>
              </a:stretch>
            </a:blipFill>
            <a:ln cap="sq">
              <a:noFill/>
              <a:prstDash val="solid"/>
              <a:miter/>
            </a:ln>
          </p:spPr>
        </p:sp>
        <p:sp>
          <p:nvSpPr>
            <p:cNvPr name="Freeform 16" id="16"/>
            <p:cNvSpPr/>
            <p:nvPr/>
          </p:nvSpPr>
          <p:spPr>
            <a:xfrm flipH="false" flipV="false" rot="0">
              <a:off x="70746" y="81645"/>
              <a:ext cx="1278690" cy="1214756"/>
            </a:xfrm>
            <a:custGeom>
              <a:avLst/>
              <a:gdLst/>
              <a:ahLst/>
              <a:cxnLst/>
              <a:rect r="r" b="b" t="t" l="l"/>
              <a:pathLst>
                <a:path h="1214756" w="1278690">
                  <a:moveTo>
                    <a:pt x="0" y="0"/>
                  </a:moveTo>
                  <a:lnTo>
                    <a:pt x="1278691" y="0"/>
                  </a:lnTo>
                  <a:lnTo>
                    <a:pt x="1278691" y="1214756"/>
                  </a:lnTo>
                  <a:lnTo>
                    <a:pt x="0" y="121475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17" id="17"/>
            <p:cNvSpPr/>
            <p:nvPr/>
          </p:nvSpPr>
          <p:spPr>
            <a:xfrm flipH="false" flipV="false" rot="0">
              <a:off x="70746" y="0"/>
              <a:ext cx="1278690" cy="1214756"/>
            </a:xfrm>
            <a:custGeom>
              <a:avLst/>
              <a:gdLst/>
              <a:ahLst/>
              <a:cxnLst/>
              <a:rect r="r" b="b" t="t" l="l"/>
              <a:pathLst>
                <a:path h="1214756" w="1278690">
                  <a:moveTo>
                    <a:pt x="0" y="0"/>
                  </a:moveTo>
                  <a:lnTo>
                    <a:pt x="1278691" y="0"/>
                  </a:lnTo>
                  <a:lnTo>
                    <a:pt x="1278691" y="1214756"/>
                  </a:lnTo>
                  <a:lnTo>
                    <a:pt x="0" y="1214756"/>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sp>
        <p:nvSpPr>
          <p:cNvPr name="TextBox 18" id="18"/>
          <p:cNvSpPr txBox="true"/>
          <p:nvPr/>
        </p:nvSpPr>
        <p:spPr>
          <a:xfrm rot="0">
            <a:off x="1752600" y="1180170"/>
            <a:ext cx="10134600" cy="721995"/>
          </a:xfrm>
          <a:prstGeom prst="rect">
            <a:avLst/>
          </a:prstGeom>
        </p:spPr>
        <p:txBody>
          <a:bodyPr anchor="t" rtlCol="false" tIns="0" lIns="0" bIns="0" rIns="0">
            <a:spAutoFit/>
          </a:bodyPr>
          <a:lstStyle/>
          <a:p>
            <a:pPr algn="l">
              <a:lnSpc>
                <a:spcPts val="5625"/>
              </a:lnSpc>
            </a:pPr>
            <a:r>
              <a:rPr lang="en-US" sz="4800" b="true">
                <a:solidFill>
                  <a:srgbClr val="041F60"/>
                </a:solidFill>
                <a:latin typeface="Gotham Bold"/>
                <a:ea typeface="Gotham Bold"/>
                <a:cs typeface="Gotham Bold"/>
                <a:sym typeface="Gotham Bold"/>
              </a:rPr>
              <a:t>Objective</a:t>
            </a:r>
          </a:p>
        </p:txBody>
      </p:sp>
      <p:sp>
        <p:nvSpPr>
          <p:cNvPr name="TextBox 19" id="19"/>
          <p:cNvSpPr txBox="true"/>
          <p:nvPr/>
        </p:nvSpPr>
        <p:spPr>
          <a:xfrm rot="0">
            <a:off x="2057400" y="5209851"/>
            <a:ext cx="4038600" cy="1376172"/>
          </a:xfrm>
          <a:prstGeom prst="rect">
            <a:avLst/>
          </a:prstGeom>
        </p:spPr>
        <p:txBody>
          <a:bodyPr anchor="t" rtlCol="false" tIns="0" lIns="0" bIns="0" rIns="0">
            <a:spAutoFit/>
          </a:bodyPr>
          <a:lstStyle/>
          <a:p>
            <a:pPr algn="l">
              <a:lnSpc>
                <a:spcPts val="2798"/>
              </a:lnSpc>
            </a:pPr>
            <a:r>
              <a:rPr lang="en-US" sz="1799">
                <a:solidFill>
                  <a:srgbClr val="000000"/>
                </a:solidFill>
                <a:latin typeface="Canva Sans"/>
                <a:ea typeface="Canva Sans"/>
                <a:cs typeface="Canva Sans"/>
                <a:sym typeface="Canva Sans"/>
              </a:rPr>
              <a:t>focus</a:t>
            </a:r>
            <a:r>
              <a:rPr lang="en-US" sz="1799">
                <a:solidFill>
                  <a:srgbClr val="000000"/>
                </a:solidFill>
                <a:latin typeface="Canva Sans"/>
                <a:ea typeface="Canva Sans"/>
                <a:cs typeface="Canva Sans"/>
                <a:sym typeface="Canva Sans"/>
              </a:rPr>
              <a:t>es on creating a machine learning model that can predict house prices based on input features.</a:t>
            </a:r>
          </a:p>
        </p:txBody>
      </p:sp>
      <p:sp>
        <p:nvSpPr>
          <p:cNvPr name="TextBox 20" id="20"/>
          <p:cNvSpPr txBox="true"/>
          <p:nvPr/>
        </p:nvSpPr>
        <p:spPr>
          <a:xfrm rot="0">
            <a:off x="7889281" y="8031709"/>
            <a:ext cx="4038600" cy="1023747"/>
          </a:xfrm>
          <a:prstGeom prst="rect">
            <a:avLst/>
          </a:prstGeom>
        </p:spPr>
        <p:txBody>
          <a:bodyPr anchor="t" rtlCol="false" tIns="0" lIns="0" bIns="0" rIns="0">
            <a:spAutoFit/>
          </a:bodyPr>
          <a:lstStyle/>
          <a:p>
            <a:pPr algn="l">
              <a:lnSpc>
                <a:spcPts val="2798"/>
              </a:lnSpc>
            </a:pPr>
            <a:r>
              <a:rPr lang="en-US" sz="1799">
                <a:solidFill>
                  <a:srgbClr val="000000"/>
                </a:solidFill>
                <a:latin typeface="Canva Sans"/>
                <a:ea typeface="Canva Sans"/>
                <a:cs typeface="Canva Sans"/>
                <a:sym typeface="Canva Sans"/>
              </a:rPr>
              <a:t> Reduc</a:t>
            </a:r>
            <a:r>
              <a:rPr lang="en-US" sz="1799">
                <a:solidFill>
                  <a:srgbClr val="000000"/>
                </a:solidFill>
                <a:latin typeface="Canva Sans"/>
                <a:ea typeface="Canva Sans"/>
                <a:cs typeface="Canva Sans"/>
                <a:sym typeface="Canva Sans"/>
              </a:rPr>
              <a:t>e prediction error and increase model performance (measured using R² score).</a:t>
            </a:r>
          </a:p>
        </p:txBody>
      </p:sp>
      <p:sp>
        <p:nvSpPr>
          <p:cNvPr name="TextBox 21" id="21"/>
          <p:cNvSpPr txBox="true"/>
          <p:nvPr/>
        </p:nvSpPr>
        <p:spPr>
          <a:xfrm rot="0">
            <a:off x="13639800" y="4234652"/>
            <a:ext cx="4038600" cy="1728597"/>
          </a:xfrm>
          <a:prstGeom prst="rect">
            <a:avLst/>
          </a:prstGeom>
        </p:spPr>
        <p:txBody>
          <a:bodyPr anchor="t" rtlCol="false" tIns="0" lIns="0" bIns="0" rIns="0">
            <a:spAutoFit/>
          </a:bodyPr>
          <a:lstStyle/>
          <a:p>
            <a:pPr algn="l">
              <a:lnSpc>
                <a:spcPts val="2798"/>
              </a:lnSpc>
            </a:pPr>
            <a:r>
              <a:rPr lang="en-US" sz="1799">
                <a:solidFill>
                  <a:srgbClr val="000000"/>
                </a:solidFill>
                <a:latin typeface="Canva Sans"/>
                <a:ea typeface="Canva Sans"/>
                <a:cs typeface="Canva Sans"/>
                <a:sym typeface="Canva Sans"/>
              </a:rPr>
              <a:t>Visu</a:t>
            </a:r>
            <a:r>
              <a:rPr lang="en-US" sz="1799">
                <a:solidFill>
                  <a:srgbClr val="000000"/>
                </a:solidFill>
                <a:latin typeface="Canva Sans"/>
                <a:ea typeface="Canva Sans"/>
                <a:cs typeface="Canva Sans"/>
                <a:sym typeface="Canva Sans"/>
              </a:rPr>
              <a:t>ally evaluate model accuracy and behavior.How data points are distributed. How well the model fits the data</a:t>
            </a:r>
          </a:p>
          <a:p>
            <a:pPr algn="l">
              <a:lnSpc>
                <a:spcPts val="2798"/>
              </a:lnSpc>
            </a:pPr>
          </a:p>
        </p:txBody>
      </p:sp>
      <p:sp>
        <p:nvSpPr>
          <p:cNvPr name="TextBox 22" id="22"/>
          <p:cNvSpPr txBox="true"/>
          <p:nvPr/>
        </p:nvSpPr>
        <p:spPr>
          <a:xfrm rot="0">
            <a:off x="2057400" y="4713230"/>
            <a:ext cx="4038600" cy="382058"/>
          </a:xfrm>
          <a:prstGeom prst="rect">
            <a:avLst/>
          </a:prstGeom>
        </p:spPr>
        <p:txBody>
          <a:bodyPr anchor="t" rtlCol="false" tIns="0" lIns="0" bIns="0" rIns="0">
            <a:spAutoFit/>
          </a:bodyPr>
          <a:lstStyle/>
          <a:p>
            <a:pPr algn="l">
              <a:lnSpc>
                <a:spcPts val="2916"/>
              </a:lnSpc>
            </a:pPr>
            <a:r>
              <a:rPr lang="en-US" sz="2499" b="true">
                <a:solidFill>
                  <a:srgbClr val="041F60"/>
                </a:solidFill>
                <a:latin typeface="Gotham Bold"/>
                <a:ea typeface="Gotham Bold"/>
                <a:cs typeface="Gotham Bold"/>
                <a:sym typeface="Gotham Bold"/>
              </a:rPr>
              <a:t>Build regression model</a:t>
            </a:r>
          </a:p>
        </p:txBody>
      </p:sp>
      <p:sp>
        <p:nvSpPr>
          <p:cNvPr name="TextBox 23" id="23"/>
          <p:cNvSpPr txBox="true"/>
          <p:nvPr/>
        </p:nvSpPr>
        <p:spPr>
          <a:xfrm rot="0">
            <a:off x="7889281" y="7535088"/>
            <a:ext cx="4038600" cy="382058"/>
          </a:xfrm>
          <a:prstGeom prst="rect">
            <a:avLst/>
          </a:prstGeom>
        </p:spPr>
        <p:txBody>
          <a:bodyPr anchor="t" rtlCol="false" tIns="0" lIns="0" bIns="0" rIns="0">
            <a:spAutoFit/>
          </a:bodyPr>
          <a:lstStyle/>
          <a:p>
            <a:pPr algn="l">
              <a:lnSpc>
                <a:spcPts val="2916"/>
              </a:lnSpc>
            </a:pPr>
            <a:r>
              <a:rPr lang="en-US" sz="2499" b="true">
                <a:solidFill>
                  <a:srgbClr val="041F60"/>
                </a:solidFill>
                <a:latin typeface="Gotham Bold"/>
                <a:ea typeface="Gotham Bold"/>
                <a:cs typeface="Gotham Bold"/>
                <a:sym typeface="Gotham Bold"/>
              </a:rPr>
              <a:t>Improve accuracy</a:t>
            </a:r>
          </a:p>
        </p:txBody>
      </p:sp>
      <p:sp>
        <p:nvSpPr>
          <p:cNvPr name="TextBox 24" id="24"/>
          <p:cNvSpPr txBox="true"/>
          <p:nvPr/>
        </p:nvSpPr>
        <p:spPr>
          <a:xfrm rot="0">
            <a:off x="13639800" y="3738031"/>
            <a:ext cx="4038600" cy="382058"/>
          </a:xfrm>
          <a:prstGeom prst="rect">
            <a:avLst/>
          </a:prstGeom>
        </p:spPr>
        <p:txBody>
          <a:bodyPr anchor="t" rtlCol="false" tIns="0" lIns="0" bIns="0" rIns="0">
            <a:spAutoFit/>
          </a:bodyPr>
          <a:lstStyle/>
          <a:p>
            <a:pPr algn="l">
              <a:lnSpc>
                <a:spcPts val="2916"/>
              </a:lnSpc>
            </a:pPr>
            <a:r>
              <a:rPr lang="en-US" sz="2499" b="true">
                <a:solidFill>
                  <a:srgbClr val="041F60"/>
                </a:solidFill>
                <a:latin typeface="Gotham Bold"/>
                <a:ea typeface="Gotham Bold"/>
                <a:cs typeface="Gotham Bold"/>
                <a:sym typeface="Gotham Bold"/>
              </a:rPr>
              <a:t>Visualize relationship</a:t>
            </a:r>
          </a:p>
        </p:txBody>
      </p:sp>
      <p:sp>
        <p:nvSpPr>
          <p:cNvPr name="Freeform 25" id="25"/>
          <p:cNvSpPr/>
          <p:nvPr/>
        </p:nvSpPr>
        <p:spPr>
          <a:xfrm flipH="false" flipV="false" rot="0">
            <a:off x="8240638" y="6355498"/>
            <a:ext cx="438623" cy="438623"/>
          </a:xfrm>
          <a:custGeom>
            <a:avLst/>
            <a:gdLst/>
            <a:ahLst/>
            <a:cxnLst/>
            <a:rect r="r" b="b" t="t" l="l"/>
            <a:pathLst>
              <a:path h="438623" w="438623">
                <a:moveTo>
                  <a:pt x="0" y="0"/>
                </a:moveTo>
                <a:lnTo>
                  <a:pt x="438623" y="0"/>
                </a:lnTo>
                <a:lnTo>
                  <a:pt x="438623" y="438623"/>
                </a:lnTo>
                <a:lnTo>
                  <a:pt x="0" y="438623"/>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26" id="26"/>
          <p:cNvSpPr/>
          <p:nvPr/>
        </p:nvSpPr>
        <p:spPr>
          <a:xfrm flipH="false" flipV="false" rot="0">
            <a:off x="13953294" y="2567754"/>
            <a:ext cx="438150" cy="438150"/>
          </a:xfrm>
          <a:custGeom>
            <a:avLst/>
            <a:gdLst/>
            <a:ahLst/>
            <a:cxnLst/>
            <a:rect r="r" b="b" t="t" l="l"/>
            <a:pathLst>
              <a:path h="438150" w="438150">
                <a:moveTo>
                  <a:pt x="0" y="0"/>
                </a:moveTo>
                <a:lnTo>
                  <a:pt x="438150" y="0"/>
                </a:lnTo>
                <a:lnTo>
                  <a:pt x="438150" y="438150"/>
                </a:lnTo>
                <a:lnTo>
                  <a:pt x="0" y="438150"/>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27" id="27"/>
          <p:cNvSpPr/>
          <p:nvPr/>
        </p:nvSpPr>
        <p:spPr>
          <a:xfrm flipH="false" flipV="false" rot="0">
            <a:off x="2370657" y="7119677"/>
            <a:ext cx="438623" cy="438623"/>
          </a:xfrm>
          <a:custGeom>
            <a:avLst/>
            <a:gdLst/>
            <a:ahLst/>
            <a:cxnLst/>
            <a:rect r="r" b="b" t="t" l="l"/>
            <a:pathLst>
              <a:path h="438623" w="438623">
                <a:moveTo>
                  <a:pt x="0" y="0"/>
                </a:moveTo>
                <a:lnTo>
                  <a:pt x="438623" y="0"/>
                </a:lnTo>
                <a:lnTo>
                  <a:pt x="438623" y="438623"/>
                </a:lnTo>
                <a:lnTo>
                  <a:pt x="0" y="438623"/>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TextBox 28" id="28"/>
          <p:cNvSpPr txBox="true"/>
          <p:nvPr/>
        </p:nvSpPr>
        <p:spPr>
          <a:xfrm rot="0">
            <a:off x="1752600" y="2007261"/>
            <a:ext cx="8358669" cy="560493"/>
          </a:xfrm>
          <a:prstGeom prst="rect">
            <a:avLst/>
          </a:prstGeom>
        </p:spPr>
        <p:txBody>
          <a:bodyPr anchor="t" rtlCol="false" tIns="0" lIns="0" bIns="0" rIns="0">
            <a:spAutoFit/>
          </a:bodyPr>
          <a:lstStyle/>
          <a:p>
            <a:pPr algn="l">
              <a:lnSpc>
                <a:spcPts val="2216"/>
              </a:lnSpc>
              <a:spcBef>
                <a:spcPct val="0"/>
              </a:spcBef>
            </a:pPr>
            <a:r>
              <a:rPr lang="en-US" sz="1900">
                <a:solidFill>
                  <a:srgbClr val="000000"/>
                </a:solidFill>
                <a:latin typeface="Gotham"/>
                <a:ea typeface="Gotham"/>
                <a:cs typeface="Gotham"/>
                <a:sym typeface="Gotham"/>
              </a:rPr>
              <a:t>This objective focuses on creating a machine learning model that can predict house prices based on input features.</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3F4FA"/>
        </a:solidFill>
      </p:bgPr>
    </p:bg>
    <p:spTree>
      <p:nvGrpSpPr>
        <p:cNvPr id="1" name=""/>
        <p:cNvGrpSpPr/>
        <p:nvPr/>
      </p:nvGrpSpPr>
      <p:grpSpPr>
        <a:xfrm>
          <a:off x="0" y="0"/>
          <a:ext cx="0" cy="0"/>
          <a:chOff x="0" y="0"/>
          <a:chExt cx="0" cy="0"/>
        </a:xfrm>
      </p:grpSpPr>
      <p:sp>
        <p:nvSpPr>
          <p:cNvPr name="Freeform 2" id="2"/>
          <p:cNvSpPr/>
          <p:nvPr/>
        </p:nvSpPr>
        <p:spPr>
          <a:xfrm flipH="false" flipV="false" rot="0">
            <a:off x="7658288" y="836785"/>
            <a:ext cx="9019299" cy="8613430"/>
          </a:xfrm>
          <a:custGeom>
            <a:avLst/>
            <a:gdLst/>
            <a:ahLst/>
            <a:cxnLst/>
            <a:rect r="r" b="b" t="t" l="l"/>
            <a:pathLst>
              <a:path h="8613430" w="9019299">
                <a:moveTo>
                  <a:pt x="0" y="0"/>
                </a:moveTo>
                <a:lnTo>
                  <a:pt x="9019299" y="0"/>
                </a:lnTo>
                <a:lnTo>
                  <a:pt x="9019299" y="8613430"/>
                </a:lnTo>
                <a:lnTo>
                  <a:pt x="0" y="8613430"/>
                </a:lnTo>
                <a:lnTo>
                  <a:pt x="0" y="0"/>
                </a:lnTo>
                <a:close/>
              </a:path>
            </a:pathLst>
          </a:custGeom>
          <a:blipFill>
            <a:blip r:embed="rId2"/>
            <a:stretch>
              <a:fillRect l="0" t="0" r="0" b="0"/>
            </a:stretch>
          </a:blipFill>
        </p:spPr>
      </p:sp>
      <p:sp>
        <p:nvSpPr>
          <p:cNvPr name="TextBox 3" id="3"/>
          <p:cNvSpPr txBox="true"/>
          <p:nvPr/>
        </p:nvSpPr>
        <p:spPr>
          <a:xfrm rot="0">
            <a:off x="1342905" y="1047750"/>
            <a:ext cx="5701352" cy="1104731"/>
          </a:xfrm>
          <a:prstGeom prst="rect">
            <a:avLst/>
          </a:prstGeom>
        </p:spPr>
        <p:txBody>
          <a:bodyPr anchor="t" rtlCol="false" tIns="0" lIns="0" bIns="0" rIns="0">
            <a:spAutoFit/>
          </a:bodyPr>
          <a:lstStyle/>
          <a:p>
            <a:pPr algn="l">
              <a:lnSpc>
                <a:spcPts val="4377"/>
              </a:lnSpc>
            </a:pPr>
            <a:r>
              <a:rPr lang="en-US" sz="3752" b="true">
                <a:solidFill>
                  <a:srgbClr val="041F60"/>
                </a:solidFill>
                <a:latin typeface="Gotham Bold"/>
                <a:ea typeface="Gotham Bold"/>
                <a:cs typeface="Gotham Bold"/>
                <a:sym typeface="Gotham Bold"/>
              </a:rPr>
              <a:t>Problem- crowded heatmap</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3F4FA"/>
        </a:solidFill>
      </p:bgPr>
    </p:bg>
    <p:spTree>
      <p:nvGrpSpPr>
        <p:cNvPr id="1" name=""/>
        <p:cNvGrpSpPr/>
        <p:nvPr/>
      </p:nvGrpSpPr>
      <p:grpSpPr>
        <a:xfrm>
          <a:off x="0" y="0"/>
          <a:ext cx="0" cy="0"/>
          <a:chOff x="0" y="0"/>
          <a:chExt cx="0" cy="0"/>
        </a:xfrm>
      </p:grpSpPr>
      <p:sp>
        <p:nvSpPr>
          <p:cNvPr name="Freeform 2" id="2"/>
          <p:cNvSpPr/>
          <p:nvPr/>
        </p:nvSpPr>
        <p:spPr>
          <a:xfrm flipH="false" flipV="false" rot="0">
            <a:off x="5711344" y="253457"/>
            <a:ext cx="11355687" cy="9780085"/>
          </a:xfrm>
          <a:custGeom>
            <a:avLst/>
            <a:gdLst/>
            <a:ahLst/>
            <a:cxnLst/>
            <a:rect r="r" b="b" t="t" l="l"/>
            <a:pathLst>
              <a:path h="9780085" w="11355687">
                <a:moveTo>
                  <a:pt x="0" y="0"/>
                </a:moveTo>
                <a:lnTo>
                  <a:pt x="11355687" y="0"/>
                </a:lnTo>
                <a:lnTo>
                  <a:pt x="11355687" y="9780086"/>
                </a:lnTo>
                <a:lnTo>
                  <a:pt x="0" y="9780086"/>
                </a:lnTo>
                <a:lnTo>
                  <a:pt x="0" y="0"/>
                </a:lnTo>
                <a:close/>
              </a:path>
            </a:pathLst>
          </a:custGeom>
          <a:blipFill>
            <a:blip r:embed="rId2"/>
            <a:stretch>
              <a:fillRect l="0" t="0" r="0" b="0"/>
            </a:stretch>
          </a:blipFill>
        </p:spPr>
      </p:sp>
      <p:sp>
        <p:nvSpPr>
          <p:cNvPr name="TextBox 3" id="3"/>
          <p:cNvSpPr txBox="true"/>
          <p:nvPr/>
        </p:nvSpPr>
        <p:spPr>
          <a:xfrm rot="0">
            <a:off x="1396576" y="794425"/>
            <a:ext cx="3482917" cy="2529796"/>
          </a:xfrm>
          <a:prstGeom prst="rect">
            <a:avLst/>
          </a:prstGeom>
        </p:spPr>
        <p:txBody>
          <a:bodyPr anchor="t" rtlCol="false" tIns="0" lIns="0" bIns="0" rIns="0">
            <a:spAutoFit/>
          </a:bodyPr>
          <a:lstStyle/>
          <a:p>
            <a:pPr algn="l">
              <a:lnSpc>
                <a:spcPts val="4374"/>
              </a:lnSpc>
            </a:pPr>
            <a:r>
              <a:rPr lang="en-US" sz="3752" b="true">
                <a:solidFill>
                  <a:srgbClr val="041F60"/>
                </a:solidFill>
                <a:latin typeface="Gotham Bold"/>
                <a:ea typeface="Gotham Bold"/>
                <a:cs typeface="Gotham Bold"/>
                <a:sym typeface="Gotham Bold"/>
              </a:rPr>
              <a:t>Solution :</a:t>
            </a:r>
          </a:p>
          <a:p>
            <a:pPr algn="l">
              <a:lnSpc>
                <a:spcPts val="3910"/>
              </a:lnSpc>
            </a:pPr>
            <a:r>
              <a:rPr lang="en-US" sz="3352">
                <a:solidFill>
                  <a:srgbClr val="041F60"/>
                </a:solidFill>
                <a:latin typeface="Gotham"/>
                <a:ea typeface="Gotham"/>
                <a:cs typeface="Gotham"/>
                <a:sym typeface="Gotham"/>
              </a:rPr>
              <a:t>Analyze only important data values using corr()</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3F4FA"/>
        </a:solidFill>
      </p:bgPr>
    </p:bg>
    <p:spTree>
      <p:nvGrpSpPr>
        <p:cNvPr id="1" name=""/>
        <p:cNvGrpSpPr/>
        <p:nvPr/>
      </p:nvGrpSpPr>
      <p:grpSpPr>
        <a:xfrm>
          <a:off x="0" y="0"/>
          <a:ext cx="0" cy="0"/>
          <a:chOff x="0" y="0"/>
          <a:chExt cx="0" cy="0"/>
        </a:xfrm>
      </p:grpSpPr>
      <p:sp>
        <p:nvSpPr>
          <p:cNvPr name="Freeform 2" id="2"/>
          <p:cNvSpPr/>
          <p:nvPr/>
        </p:nvSpPr>
        <p:spPr>
          <a:xfrm flipH="false" flipV="false" rot="0">
            <a:off x="7687092" y="2044047"/>
            <a:ext cx="9572208" cy="6198907"/>
          </a:xfrm>
          <a:custGeom>
            <a:avLst/>
            <a:gdLst/>
            <a:ahLst/>
            <a:cxnLst/>
            <a:rect r="r" b="b" t="t" l="l"/>
            <a:pathLst>
              <a:path h="6198907" w="9572208">
                <a:moveTo>
                  <a:pt x="0" y="0"/>
                </a:moveTo>
                <a:lnTo>
                  <a:pt x="9572208" y="0"/>
                </a:lnTo>
                <a:lnTo>
                  <a:pt x="9572208" y="6198906"/>
                </a:lnTo>
                <a:lnTo>
                  <a:pt x="0" y="6198906"/>
                </a:lnTo>
                <a:lnTo>
                  <a:pt x="0" y="0"/>
                </a:lnTo>
                <a:close/>
              </a:path>
            </a:pathLst>
          </a:custGeom>
          <a:blipFill>
            <a:blip r:embed="rId2"/>
            <a:stretch>
              <a:fillRect l="0" t="0" r="0" b="0"/>
            </a:stretch>
          </a:blipFill>
        </p:spPr>
      </p:sp>
      <p:sp>
        <p:nvSpPr>
          <p:cNvPr name="TextBox 3" id="3"/>
          <p:cNvSpPr txBox="true"/>
          <p:nvPr/>
        </p:nvSpPr>
        <p:spPr>
          <a:xfrm rot="0">
            <a:off x="-2953590" y="1322052"/>
            <a:ext cx="12637850" cy="721995"/>
          </a:xfrm>
          <a:prstGeom prst="rect">
            <a:avLst/>
          </a:prstGeom>
        </p:spPr>
        <p:txBody>
          <a:bodyPr anchor="t" rtlCol="false" tIns="0" lIns="0" bIns="0" rIns="0">
            <a:spAutoFit/>
          </a:bodyPr>
          <a:lstStyle/>
          <a:p>
            <a:pPr algn="ctr">
              <a:lnSpc>
                <a:spcPts val="5625"/>
              </a:lnSpc>
            </a:pPr>
            <a:r>
              <a:rPr lang="en-US" sz="4800" b="true">
                <a:solidFill>
                  <a:srgbClr val="041F60"/>
                </a:solidFill>
                <a:latin typeface="Gotham Bold"/>
                <a:ea typeface="Gotham Bold"/>
                <a:cs typeface="Gotham Bold"/>
                <a:sym typeface="Gotham Bold"/>
              </a:rPr>
              <a:t>Scatter Plot</a:t>
            </a:r>
          </a:p>
        </p:txBody>
      </p:sp>
      <p:sp>
        <p:nvSpPr>
          <p:cNvPr name="TextBox 4" id="4"/>
          <p:cNvSpPr txBox="true"/>
          <p:nvPr/>
        </p:nvSpPr>
        <p:spPr>
          <a:xfrm rot="0">
            <a:off x="1529637" y="2681861"/>
            <a:ext cx="5013191" cy="5120357"/>
          </a:xfrm>
          <a:prstGeom prst="rect">
            <a:avLst/>
          </a:prstGeom>
        </p:spPr>
        <p:txBody>
          <a:bodyPr anchor="t" rtlCol="false" tIns="0" lIns="0" bIns="0" rIns="0">
            <a:spAutoFit/>
          </a:bodyPr>
          <a:lstStyle/>
          <a:p>
            <a:pPr algn="l">
              <a:lnSpc>
                <a:spcPts val="3422"/>
              </a:lnSpc>
              <a:spcBef>
                <a:spcPct val="0"/>
              </a:spcBef>
            </a:pPr>
            <a:r>
              <a:rPr lang="en-US" sz="2199">
                <a:solidFill>
                  <a:srgbClr val="041F60"/>
                </a:solidFill>
                <a:latin typeface="Canva Sans"/>
                <a:ea typeface="Canva Sans"/>
                <a:cs typeface="Canva Sans"/>
                <a:sym typeface="Canva Sans"/>
              </a:rPr>
              <a:t>The scatter plot shows a clear positive relationship between living area (GrLivArea) and sale price—larger homes generally sell for more. However, the spread increases as size grows, indicating more variability in prices for bigger houses. There are also a few outliers, such as very large homes with relatively low prices and some high-priced properties that stand apart from the main cluster.</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3F4FA"/>
        </a:solidFill>
      </p:bgPr>
    </p:bg>
    <p:spTree>
      <p:nvGrpSpPr>
        <p:cNvPr id="1" name=""/>
        <p:cNvGrpSpPr/>
        <p:nvPr/>
      </p:nvGrpSpPr>
      <p:grpSpPr>
        <a:xfrm>
          <a:off x="0" y="0"/>
          <a:ext cx="0" cy="0"/>
          <a:chOff x="0" y="0"/>
          <a:chExt cx="0" cy="0"/>
        </a:xfrm>
      </p:grpSpPr>
      <p:sp>
        <p:nvSpPr>
          <p:cNvPr name="Freeform 2" id="2"/>
          <p:cNvSpPr/>
          <p:nvPr/>
        </p:nvSpPr>
        <p:spPr>
          <a:xfrm flipH="false" flipV="false" rot="0">
            <a:off x="7893243" y="1582641"/>
            <a:ext cx="9623171" cy="7006105"/>
          </a:xfrm>
          <a:custGeom>
            <a:avLst/>
            <a:gdLst/>
            <a:ahLst/>
            <a:cxnLst/>
            <a:rect r="r" b="b" t="t" l="l"/>
            <a:pathLst>
              <a:path h="7006105" w="9623171">
                <a:moveTo>
                  <a:pt x="0" y="0"/>
                </a:moveTo>
                <a:lnTo>
                  <a:pt x="9623171" y="0"/>
                </a:lnTo>
                <a:lnTo>
                  <a:pt x="9623171" y="7006105"/>
                </a:lnTo>
                <a:lnTo>
                  <a:pt x="0" y="7006105"/>
                </a:lnTo>
                <a:lnTo>
                  <a:pt x="0" y="0"/>
                </a:lnTo>
                <a:close/>
              </a:path>
            </a:pathLst>
          </a:custGeom>
          <a:blipFill>
            <a:blip r:embed="rId2"/>
            <a:stretch>
              <a:fillRect l="0" t="0" r="0" b="0"/>
            </a:stretch>
          </a:blipFill>
        </p:spPr>
      </p:sp>
      <p:sp>
        <p:nvSpPr>
          <p:cNvPr name="TextBox 3" id="3"/>
          <p:cNvSpPr txBox="true"/>
          <p:nvPr/>
        </p:nvSpPr>
        <p:spPr>
          <a:xfrm rot="0">
            <a:off x="1375900" y="2452555"/>
            <a:ext cx="6014821" cy="5977607"/>
          </a:xfrm>
          <a:prstGeom prst="rect">
            <a:avLst/>
          </a:prstGeom>
        </p:spPr>
        <p:txBody>
          <a:bodyPr anchor="t" rtlCol="false" tIns="0" lIns="0" bIns="0" rIns="0">
            <a:spAutoFit/>
          </a:bodyPr>
          <a:lstStyle/>
          <a:p>
            <a:pPr algn="l" marL="474976" indent="-237488" lvl="1">
              <a:lnSpc>
                <a:spcPts val="3422"/>
              </a:lnSpc>
              <a:buFont typeface="Arial"/>
              <a:buChar char="•"/>
            </a:pPr>
            <a:r>
              <a:rPr lang="en-US" sz="2199">
                <a:solidFill>
                  <a:srgbClr val="041F60"/>
                </a:solidFill>
                <a:latin typeface="Canva Sans"/>
                <a:ea typeface="Canva Sans"/>
                <a:cs typeface="Canva Sans"/>
                <a:sym typeface="Canva Sans"/>
              </a:rPr>
              <a:t>The data is right-skewed (positively skewed)</a:t>
            </a:r>
          </a:p>
          <a:p>
            <a:pPr algn="l" marL="474976" indent="-237488" lvl="1">
              <a:lnSpc>
                <a:spcPts val="3422"/>
              </a:lnSpc>
              <a:buFont typeface="Arial"/>
              <a:buChar char="•"/>
            </a:pPr>
            <a:r>
              <a:rPr lang="en-US" sz="2199">
                <a:solidFill>
                  <a:srgbClr val="041F60"/>
                </a:solidFill>
                <a:latin typeface="Canva Sans"/>
                <a:ea typeface="Canva Sans"/>
                <a:cs typeface="Canva Sans"/>
                <a:sym typeface="Canva Sans"/>
              </a:rPr>
              <a:t> Most houses are in the lower to mid price range, with fewer expensive houses</a:t>
            </a:r>
          </a:p>
          <a:p>
            <a:pPr algn="l" marL="474976" indent="-237488" lvl="1">
              <a:lnSpc>
                <a:spcPts val="3422"/>
              </a:lnSpc>
              <a:buFont typeface="Arial"/>
              <a:buChar char="•"/>
            </a:pPr>
            <a:r>
              <a:rPr lang="en-US" sz="2199">
                <a:solidFill>
                  <a:srgbClr val="041F60"/>
                </a:solidFill>
                <a:latin typeface="Canva Sans"/>
                <a:ea typeface="Canva Sans"/>
                <a:cs typeface="Canva Sans"/>
                <a:sym typeface="Canva Sans"/>
              </a:rPr>
              <a:t>Major concentration:</a:t>
            </a:r>
          </a:p>
          <a:p>
            <a:pPr algn="l" marL="474976" indent="-237488" lvl="1">
              <a:lnSpc>
                <a:spcPts val="3422"/>
              </a:lnSpc>
              <a:buFont typeface="Arial"/>
              <a:buChar char="•"/>
            </a:pPr>
            <a:r>
              <a:rPr lang="en-US" sz="2199">
                <a:solidFill>
                  <a:srgbClr val="041F60"/>
                </a:solidFill>
                <a:latin typeface="Canva Sans"/>
                <a:ea typeface="Canva Sans"/>
                <a:cs typeface="Canva Sans"/>
                <a:sym typeface="Canva Sans"/>
              </a:rPr>
              <a:t>Prices are mostly between ₹100,000 – ₹250,000 (approx.)</a:t>
            </a:r>
          </a:p>
          <a:p>
            <a:pPr algn="l" marL="474976" indent="-237488" lvl="1">
              <a:lnSpc>
                <a:spcPts val="3422"/>
              </a:lnSpc>
              <a:buFont typeface="Arial"/>
              <a:buChar char="•"/>
            </a:pPr>
            <a:r>
              <a:rPr lang="en-US" sz="2199">
                <a:solidFill>
                  <a:srgbClr val="041F60"/>
                </a:solidFill>
                <a:latin typeface="Canva Sans"/>
                <a:ea typeface="Canva Sans"/>
                <a:cs typeface="Canva Sans"/>
                <a:sym typeface="Canva Sans"/>
              </a:rPr>
              <a:t>Peak (mode):</a:t>
            </a:r>
          </a:p>
          <a:p>
            <a:pPr algn="l" marL="474976" indent="-237488" lvl="1">
              <a:lnSpc>
                <a:spcPts val="3422"/>
              </a:lnSpc>
              <a:buFont typeface="Arial"/>
              <a:buChar char="•"/>
            </a:pPr>
            <a:r>
              <a:rPr lang="en-US" sz="2199">
                <a:solidFill>
                  <a:srgbClr val="041F60"/>
                </a:solidFill>
                <a:latin typeface="Canva Sans"/>
                <a:ea typeface="Canva Sans"/>
                <a:cs typeface="Canva Sans"/>
                <a:sym typeface="Canva Sans"/>
              </a:rPr>
              <a:t>Around ₹150,000 – ₹180,000 → most common price range</a:t>
            </a:r>
          </a:p>
          <a:p>
            <a:pPr algn="l" marL="474976" indent="-237488" lvl="1">
              <a:lnSpc>
                <a:spcPts val="3422"/>
              </a:lnSpc>
              <a:buFont typeface="Arial"/>
              <a:buChar char="•"/>
            </a:pPr>
            <a:r>
              <a:rPr lang="en-US" sz="2199">
                <a:solidFill>
                  <a:srgbClr val="041F60"/>
                </a:solidFill>
                <a:latin typeface="Canva Sans"/>
                <a:ea typeface="Canva Sans"/>
                <a:cs typeface="Canva Sans"/>
                <a:sym typeface="Canva Sans"/>
              </a:rPr>
              <a:t>Long tail:</a:t>
            </a:r>
          </a:p>
          <a:p>
            <a:pPr algn="l" marL="474976" indent="-237488" lvl="1">
              <a:lnSpc>
                <a:spcPts val="3422"/>
              </a:lnSpc>
              <a:buFont typeface="Arial"/>
              <a:buChar char="•"/>
            </a:pPr>
            <a:r>
              <a:rPr lang="en-US" sz="2199">
                <a:solidFill>
                  <a:srgbClr val="041F60"/>
                </a:solidFill>
                <a:latin typeface="Canva Sans"/>
                <a:ea typeface="Canva Sans"/>
                <a:cs typeface="Canva Sans"/>
                <a:sym typeface="Canva Sans"/>
              </a:rPr>
              <a:t>A small number of houses have very high prices (up to ~₹700,000+)</a:t>
            </a:r>
          </a:p>
          <a:p>
            <a:pPr algn="l" marL="474976" indent="-237488" lvl="1">
              <a:lnSpc>
                <a:spcPts val="3422"/>
              </a:lnSpc>
              <a:buFont typeface="Arial"/>
              <a:buChar char="•"/>
            </a:pPr>
            <a:r>
              <a:rPr lang="en-US" sz="2199">
                <a:solidFill>
                  <a:srgbClr val="041F60"/>
                </a:solidFill>
                <a:latin typeface="Canva Sans"/>
                <a:ea typeface="Canva Sans"/>
                <a:cs typeface="Canva Sans"/>
                <a:sym typeface="Canva Sans"/>
              </a:rPr>
              <a:t> These are outliers</a:t>
            </a:r>
          </a:p>
        </p:txBody>
      </p:sp>
      <p:sp>
        <p:nvSpPr>
          <p:cNvPr name="TextBox 4" id="4"/>
          <p:cNvSpPr txBox="true"/>
          <p:nvPr/>
        </p:nvSpPr>
        <p:spPr>
          <a:xfrm rot="0">
            <a:off x="-3493850" y="1226406"/>
            <a:ext cx="12637850" cy="721995"/>
          </a:xfrm>
          <a:prstGeom prst="rect">
            <a:avLst/>
          </a:prstGeom>
        </p:spPr>
        <p:txBody>
          <a:bodyPr anchor="t" rtlCol="false" tIns="0" lIns="0" bIns="0" rIns="0">
            <a:spAutoFit/>
          </a:bodyPr>
          <a:lstStyle/>
          <a:p>
            <a:pPr algn="ctr">
              <a:lnSpc>
                <a:spcPts val="5625"/>
              </a:lnSpc>
            </a:pPr>
            <a:r>
              <a:rPr lang="en-US" sz="4800" b="true">
                <a:solidFill>
                  <a:srgbClr val="041F60"/>
                </a:solidFill>
                <a:latin typeface="Gotham Bold"/>
                <a:ea typeface="Gotham Bold"/>
                <a:cs typeface="Gotham Bold"/>
                <a:sym typeface="Gotham Bold"/>
              </a:rPr>
              <a:t>Histplot</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3F4FA"/>
        </a:solidFill>
      </p:bgPr>
    </p:bg>
    <p:spTree>
      <p:nvGrpSpPr>
        <p:cNvPr id="1" name=""/>
        <p:cNvGrpSpPr/>
        <p:nvPr/>
      </p:nvGrpSpPr>
      <p:grpSpPr>
        <a:xfrm>
          <a:off x="0" y="0"/>
          <a:ext cx="0" cy="0"/>
          <a:chOff x="0" y="0"/>
          <a:chExt cx="0" cy="0"/>
        </a:xfrm>
      </p:grpSpPr>
      <p:grpSp>
        <p:nvGrpSpPr>
          <p:cNvPr name="Group 2" id="2"/>
          <p:cNvGrpSpPr/>
          <p:nvPr/>
        </p:nvGrpSpPr>
        <p:grpSpPr>
          <a:xfrm rot="0">
            <a:off x="609600" y="3329753"/>
            <a:ext cx="5111802" cy="5111802"/>
            <a:chOff x="0" y="0"/>
            <a:chExt cx="812800" cy="812800"/>
          </a:xfrm>
        </p:grpSpPr>
        <p:sp>
          <p:nvSpPr>
            <p:cNvPr name="Freeform 3" id="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25000">
                  <a:srgbClr val="FFFFFF">
                    <a:alpha val="100000"/>
                  </a:srgbClr>
                </a:gs>
                <a:gs pos="50000">
                  <a:srgbClr val="FFFFFF">
                    <a:alpha val="0"/>
                  </a:srgbClr>
                </a:gs>
                <a:gs pos="75000">
                  <a:srgbClr val="FCFDFE">
                    <a:alpha val="0"/>
                  </a:srgbClr>
                </a:gs>
                <a:gs pos="100000">
                  <a:srgbClr val="FCFDFE">
                    <a:alpha val="0"/>
                  </a:srgbClr>
                </a:gs>
              </a:gsLst>
              <a:lin ang="0"/>
            </a:gradFill>
          </p:spPr>
        </p:sp>
        <p:sp>
          <p:nvSpPr>
            <p:cNvPr name="TextBox 4" id="4"/>
            <p:cNvSpPr txBox="true"/>
            <p:nvPr/>
          </p:nvSpPr>
          <p:spPr>
            <a:xfrm>
              <a:off x="76200" y="28575"/>
              <a:ext cx="660400" cy="708025"/>
            </a:xfrm>
            <a:prstGeom prst="rect">
              <a:avLst/>
            </a:prstGeom>
          </p:spPr>
          <p:txBody>
            <a:bodyPr anchor="ctr" rtlCol="false" tIns="50800" lIns="50800" bIns="50800" rIns="50800"/>
            <a:lstStyle/>
            <a:p>
              <a:pPr algn="ctr">
                <a:lnSpc>
                  <a:spcPts val="2488"/>
                </a:lnSpc>
              </a:pPr>
            </a:p>
          </p:txBody>
        </p:sp>
      </p:grpSp>
      <p:grpSp>
        <p:nvGrpSpPr>
          <p:cNvPr name="Group 5" id="5"/>
          <p:cNvGrpSpPr/>
          <p:nvPr/>
        </p:nvGrpSpPr>
        <p:grpSpPr>
          <a:xfrm rot="5400000">
            <a:off x="4636154" y="2638309"/>
            <a:ext cx="5111802" cy="6494689"/>
            <a:chOff x="0" y="0"/>
            <a:chExt cx="1168896" cy="1485116"/>
          </a:xfrm>
        </p:grpSpPr>
        <p:sp>
          <p:nvSpPr>
            <p:cNvPr name="Freeform 6" id="6"/>
            <p:cNvSpPr/>
            <p:nvPr/>
          </p:nvSpPr>
          <p:spPr>
            <a:xfrm flipH="false" flipV="false" rot="0">
              <a:off x="0" y="0"/>
              <a:ext cx="1168896" cy="1485116"/>
            </a:xfrm>
            <a:custGeom>
              <a:avLst/>
              <a:gdLst/>
              <a:ahLst/>
              <a:cxnLst/>
              <a:rect r="r" b="b" t="t" l="l"/>
              <a:pathLst>
                <a:path h="1485116" w="1168896">
                  <a:moveTo>
                    <a:pt x="584448" y="0"/>
                  </a:moveTo>
                  <a:lnTo>
                    <a:pt x="1168896" y="1485116"/>
                  </a:lnTo>
                  <a:lnTo>
                    <a:pt x="0" y="1485116"/>
                  </a:lnTo>
                  <a:lnTo>
                    <a:pt x="584448" y="0"/>
                  </a:lnTo>
                  <a:close/>
                </a:path>
              </a:pathLst>
            </a:custGeom>
            <a:gradFill rotWithShape="true">
              <a:gsLst>
                <a:gs pos="0">
                  <a:srgbClr val="6AD572">
                    <a:alpha val="100000"/>
                  </a:srgbClr>
                </a:gs>
                <a:gs pos="100000">
                  <a:srgbClr val="6AD572">
                    <a:alpha val="0"/>
                  </a:srgbClr>
                </a:gs>
              </a:gsLst>
              <a:lin ang="5400000"/>
            </a:gradFill>
          </p:spPr>
        </p:sp>
        <p:sp>
          <p:nvSpPr>
            <p:cNvPr name="TextBox 7" id="7"/>
            <p:cNvSpPr txBox="true"/>
            <p:nvPr/>
          </p:nvSpPr>
          <p:spPr>
            <a:xfrm>
              <a:off x="182640" y="641893"/>
              <a:ext cx="803616" cy="737143"/>
            </a:xfrm>
            <a:prstGeom prst="rect">
              <a:avLst/>
            </a:prstGeom>
          </p:spPr>
          <p:txBody>
            <a:bodyPr anchor="ctr" rtlCol="false" tIns="50800" lIns="50800" bIns="50800" rIns="50800"/>
            <a:lstStyle/>
            <a:p>
              <a:pPr algn="ctr">
                <a:lnSpc>
                  <a:spcPts val="2488"/>
                </a:lnSpc>
              </a:pPr>
            </a:p>
          </p:txBody>
        </p:sp>
      </p:grpSp>
      <p:grpSp>
        <p:nvGrpSpPr>
          <p:cNvPr name="Group 8" id="8"/>
          <p:cNvGrpSpPr/>
          <p:nvPr/>
        </p:nvGrpSpPr>
        <p:grpSpPr>
          <a:xfrm rot="-5400000">
            <a:off x="8540044" y="2638309"/>
            <a:ext cx="5111802" cy="6494689"/>
            <a:chOff x="0" y="0"/>
            <a:chExt cx="1168896" cy="1485116"/>
          </a:xfrm>
        </p:grpSpPr>
        <p:sp>
          <p:nvSpPr>
            <p:cNvPr name="Freeform 9" id="9"/>
            <p:cNvSpPr/>
            <p:nvPr/>
          </p:nvSpPr>
          <p:spPr>
            <a:xfrm flipH="false" flipV="false" rot="0">
              <a:off x="0" y="0"/>
              <a:ext cx="1168896" cy="1485116"/>
            </a:xfrm>
            <a:custGeom>
              <a:avLst/>
              <a:gdLst/>
              <a:ahLst/>
              <a:cxnLst/>
              <a:rect r="r" b="b" t="t" l="l"/>
              <a:pathLst>
                <a:path h="1485116" w="1168896">
                  <a:moveTo>
                    <a:pt x="584448" y="0"/>
                  </a:moveTo>
                  <a:lnTo>
                    <a:pt x="1168896" y="1485116"/>
                  </a:lnTo>
                  <a:lnTo>
                    <a:pt x="0" y="1485116"/>
                  </a:lnTo>
                  <a:lnTo>
                    <a:pt x="584448" y="0"/>
                  </a:lnTo>
                  <a:close/>
                </a:path>
              </a:pathLst>
            </a:custGeom>
            <a:gradFill rotWithShape="true">
              <a:gsLst>
                <a:gs pos="0">
                  <a:srgbClr val="65A6FE">
                    <a:alpha val="100000"/>
                  </a:srgbClr>
                </a:gs>
                <a:gs pos="100000">
                  <a:srgbClr val="65A6FE">
                    <a:alpha val="0"/>
                  </a:srgbClr>
                </a:gs>
              </a:gsLst>
              <a:lin ang="5400000"/>
            </a:gradFill>
          </p:spPr>
        </p:sp>
        <p:sp>
          <p:nvSpPr>
            <p:cNvPr name="TextBox 10" id="10"/>
            <p:cNvSpPr txBox="true"/>
            <p:nvPr/>
          </p:nvSpPr>
          <p:spPr>
            <a:xfrm>
              <a:off x="182640" y="641893"/>
              <a:ext cx="803616" cy="737143"/>
            </a:xfrm>
            <a:prstGeom prst="rect">
              <a:avLst/>
            </a:prstGeom>
          </p:spPr>
          <p:txBody>
            <a:bodyPr anchor="ctr" rtlCol="false" tIns="50800" lIns="50800" bIns="50800" rIns="50800"/>
            <a:lstStyle/>
            <a:p>
              <a:pPr algn="ctr">
                <a:lnSpc>
                  <a:spcPts val="2488"/>
                </a:lnSpc>
              </a:pPr>
            </a:p>
          </p:txBody>
        </p:sp>
      </p:grpSp>
      <p:grpSp>
        <p:nvGrpSpPr>
          <p:cNvPr name="Group 11" id="11"/>
          <p:cNvGrpSpPr/>
          <p:nvPr/>
        </p:nvGrpSpPr>
        <p:grpSpPr>
          <a:xfrm rot="-10800000">
            <a:off x="12566598" y="3329753"/>
            <a:ext cx="5111802" cy="5111802"/>
            <a:chOff x="0" y="0"/>
            <a:chExt cx="812800" cy="812800"/>
          </a:xfrm>
        </p:grpSpPr>
        <p:sp>
          <p:nvSpPr>
            <p:cNvPr name="Freeform 12" id="1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true">
              <a:gsLst>
                <a:gs pos="0">
                  <a:srgbClr val="FFFFFF">
                    <a:alpha val="100000"/>
                  </a:srgbClr>
                </a:gs>
                <a:gs pos="25000">
                  <a:srgbClr val="FFFFFF">
                    <a:alpha val="100000"/>
                  </a:srgbClr>
                </a:gs>
                <a:gs pos="50000">
                  <a:srgbClr val="FFFFFF">
                    <a:alpha val="0"/>
                  </a:srgbClr>
                </a:gs>
                <a:gs pos="75000">
                  <a:srgbClr val="FCFDFE">
                    <a:alpha val="0"/>
                  </a:srgbClr>
                </a:gs>
                <a:gs pos="100000">
                  <a:srgbClr val="FCFDFE">
                    <a:alpha val="0"/>
                  </a:srgbClr>
                </a:gs>
              </a:gsLst>
              <a:lin ang="0"/>
            </a:gradFill>
          </p:spPr>
        </p:sp>
        <p:sp>
          <p:nvSpPr>
            <p:cNvPr name="TextBox 13" id="13"/>
            <p:cNvSpPr txBox="true"/>
            <p:nvPr/>
          </p:nvSpPr>
          <p:spPr>
            <a:xfrm>
              <a:off x="76200" y="28575"/>
              <a:ext cx="660400" cy="708025"/>
            </a:xfrm>
            <a:prstGeom prst="rect">
              <a:avLst/>
            </a:prstGeom>
          </p:spPr>
          <p:txBody>
            <a:bodyPr anchor="ctr" rtlCol="false" tIns="50800" lIns="50800" bIns="50800" rIns="50800"/>
            <a:lstStyle/>
            <a:p>
              <a:pPr algn="ctr">
                <a:lnSpc>
                  <a:spcPts val="2488"/>
                </a:lnSpc>
              </a:pPr>
            </a:p>
          </p:txBody>
        </p:sp>
      </p:grpSp>
      <p:grpSp>
        <p:nvGrpSpPr>
          <p:cNvPr name="Group 14" id="14"/>
          <p:cNvGrpSpPr/>
          <p:nvPr/>
        </p:nvGrpSpPr>
        <p:grpSpPr>
          <a:xfrm rot="0">
            <a:off x="6918320" y="3622517"/>
            <a:ext cx="4451359" cy="4451359"/>
            <a:chOff x="0" y="0"/>
            <a:chExt cx="812800" cy="812800"/>
          </a:xfrm>
        </p:grpSpPr>
        <p:sp>
          <p:nvSpPr>
            <p:cNvPr name="Freeform 15" id="1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19050" cap="sq">
              <a:solidFill>
                <a:srgbClr val="E9EBF4"/>
              </a:solidFill>
              <a:prstDash val="solid"/>
              <a:miter/>
            </a:ln>
          </p:spPr>
        </p:sp>
        <p:sp>
          <p:nvSpPr>
            <p:cNvPr name="TextBox 16" id="16"/>
            <p:cNvSpPr txBox="true"/>
            <p:nvPr/>
          </p:nvSpPr>
          <p:spPr>
            <a:xfrm>
              <a:off x="76200" y="28575"/>
              <a:ext cx="660400" cy="708025"/>
            </a:xfrm>
            <a:prstGeom prst="rect">
              <a:avLst/>
            </a:prstGeom>
          </p:spPr>
          <p:txBody>
            <a:bodyPr anchor="ctr" rtlCol="false" tIns="50800" lIns="50800" bIns="50800" rIns="50800"/>
            <a:lstStyle/>
            <a:p>
              <a:pPr algn="ctr">
                <a:lnSpc>
                  <a:spcPts val="2488"/>
                </a:lnSpc>
              </a:pPr>
            </a:p>
          </p:txBody>
        </p:sp>
      </p:grpSp>
      <p:grpSp>
        <p:nvGrpSpPr>
          <p:cNvPr name="Group 17" id="17"/>
          <p:cNvGrpSpPr/>
          <p:nvPr/>
        </p:nvGrpSpPr>
        <p:grpSpPr>
          <a:xfrm rot="0">
            <a:off x="7209324" y="3950977"/>
            <a:ext cx="3869352" cy="3869352"/>
            <a:chOff x="0" y="0"/>
            <a:chExt cx="812800" cy="812800"/>
          </a:xfrm>
        </p:grpSpPr>
        <p:sp>
          <p:nvSpPr>
            <p:cNvPr name="Freeform 18" id="1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EBF4"/>
            </a:solidFill>
          </p:spPr>
        </p:sp>
        <p:sp>
          <p:nvSpPr>
            <p:cNvPr name="TextBox 19" id="19"/>
            <p:cNvSpPr txBox="true"/>
            <p:nvPr/>
          </p:nvSpPr>
          <p:spPr>
            <a:xfrm>
              <a:off x="76200" y="28575"/>
              <a:ext cx="660400" cy="708025"/>
            </a:xfrm>
            <a:prstGeom prst="rect">
              <a:avLst/>
            </a:prstGeom>
          </p:spPr>
          <p:txBody>
            <a:bodyPr anchor="ctr" rtlCol="false" tIns="50800" lIns="50800" bIns="50800" rIns="50800"/>
            <a:lstStyle/>
            <a:p>
              <a:pPr algn="ctr">
                <a:lnSpc>
                  <a:spcPts val="2488"/>
                </a:lnSpc>
              </a:pPr>
            </a:p>
          </p:txBody>
        </p:sp>
      </p:grpSp>
      <p:sp>
        <p:nvSpPr>
          <p:cNvPr name="Freeform 20" id="20"/>
          <p:cNvSpPr/>
          <p:nvPr/>
        </p:nvSpPr>
        <p:spPr>
          <a:xfrm flipH="false" flipV="false" rot="0">
            <a:off x="7410954" y="4428548"/>
            <a:ext cx="3466093" cy="3466093"/>
          </a:xfrm>
          <a:custGeom>
            <a:avLst/>
            <a:gdLst/>
            <a:ahLst/>
            <a:cxnLst/>
            <a:rect r="r" b="b" t="t" l="l"/>
            <a:pathLst>
              <a:path h="3466093" w="3466093">
                <a:moveTo>
                  <a:pt x="0" y="0"/>
                </a:moveTo>
                <a:lnTo>
                  <a:pt x="3466092" y="0"/>
                </a:lnTo>
                <a:lnTo>
                  <a:pt x="3466092" y="3466093"/>
                </a:lnTo>
                <a:lnTo>
                  <a:pt x="0" y="3466093"/>
                </a:lnTo>
                <a:lnTo>
                  <a:pt x="0" y="0"/>
                </a:lnTo>
                <a:close/>
              </a:path>
            </a:pathLst>
          </a:custGeom>
          <a:blipFill>
            <a:blip r:embed="rId2">
              <a:alphaModFix amt="24000"/>
            </a:blip>
            <a:stretch>
              <a:fillRect l="0" t="0" r="0" b="0"/>
            </a:stretch>
          </a:blipFill>
          <a:ln cap="sq">
            <a:noFill/>
            <a:prstDash val="solid"/>
            <a:miter/>
          </a:ln>
        </p:spPr>
      </p:sp>
      <p:grpSp>
        <p:nvGrpSpPr>
          <p:cNvPr name="Group 21" id="21"/>
          <p:cNvGrpSpPr/>
          <p:nvPr/>
        </p:nvGrpSpPr>
        <p:grpSpPr>
          <a:xfrm rot="0">
            <a:off x="7673072" y="4509976"/>
            <a:ext cx="2941856" cy="2941856"/>
            <a:chOff x="0" y="0"/>
            <a:chExt cx="812800" cy="812800"/>
          </a:xfrm>
        </p:grpSpPr>
        <p:sp>
          <p:nvSpPr>
            <p:cNvPr name="Freeform 22" id="2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EBF4"/>
            </a:solidFill>
          </p:spPr>
        </p:sp>
        <p:sp>
          <p:nvSpPr>
            <p:cNvPr name="TextBox 23" id="23"/>
            <p:cNvSpPr txBox="true"/>
            <p:nvPr/>
          </p:nvSpPr>
          <p:spPr>
            <a:xfrm>
              <a:off x="76200" y="28575"/>
              <a:ext cx="660400" cy="708025"/>
            </a:xfrm>
            <a:prstGeom prst="rect">
              <a:avLst/>
            </a:prstGeom>
          </p:spPr>
          <p:txBody>
            <a:bodyPr anchor="ctr" rtlCol="false" tIns="50800" lIns="50800" bIns="50800" rIns="50800"/>
            <a:lstStyle/>
            <a:p>
              <a:pPr algn="ctr">
                <a:lnSpc>
                  <a:spcPts val="2488"/>
                </a:lnSpc>
              </a:pPr>
            </a:p>
          </p:txBody>
        </p:sp>
      </p:grpSp>
      <p:grpSp>
        <p:nvGrpSpPr>
          <p:cNvPr name="Group 24" id="24"/>
          <p:cNvGrpSpPr/>
          <p:nvPr/>
        </p:nvGrpSpPr>
        <p:grpSpPr>
          <a:xfrm rot="0">
            <a:off x="7673072" y="4414726"/>
            <a:ext cx="2941856" cy="2941856"/>
            <a:chOff x="0" y="0"/>
            <a:chExt cx="812800" cy="812800"/>
          </a:xfrm>
        </p:grpSpPr>
        <p:sp>
          <p:nvSpPr>
            <p:cNvPr name="Freeform 25" id="2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DFE"/>
            </a:solidFill>
          </p:spPr>
        </p:sp>
        <p:sp>
          <p:nvSpPr>
            <p:cNvPr name="TextBox 26" id="26"/>
            <p:cNvSpPr txBox="true"/>
            <p:nvPr/>
          </p:nvSpPr>
          <p:spPr>
            <a:xfrm>
              <a:off x="76200" y="28575"/>
              <a:ext cx="660400" cy="708025"/>
            </a:xfrm>
            <a:prstGeom prst="rect">
              <a:avLst/>
            </a:prstGeom>
          </p:spPr>
          <p:txBody>
            <a:bodyPr anchor="ctr" rtlCol="false" tIns="50800" lIns="50800" bIns="50800" rIns="50800"/>
            <a:lstStyle/>
            <a:p>
              <a:pPr algn="ctr">
                <a:lnSpc>
                  <a:spcPts val="2488"/>
                </a:lnSpc>
              </a:pPr>
            </a:p>
          </p:txBody>
        </p:sp>
      </p:grpSp>
      <p:grpSp>
        <p:nvGrpSpPr>
          <p:cNvPr name="Group 27" id="27"/>
          <p:cNvGrpSpPr/>
          <p:nvPr/>
        </p:nvGrpSpPr>
        <p:grpSpPr>
          <a:xfrm rot="0">
            <a:off x="8023748" y="4727945"/>
            <a:ext cx="2240504" cy="2240504"/>
            <a:chOff x="0" y="0"/>
            <a:chExt cx="812800" cy="812800"/>
          </a:xfrm>
        </p:grpSpPr>
        <p:sp>
          <p:nvSpPr>
            <p:cNvPr name="Freeform 28" id="2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219075" cap="sq">
              <a:gradFill>
                <a:gsLst>
                  <a:gs pos="0">
                    <a:srgbClr val="6AD572">
                      <a:alpha val="100000"/>
                    </a:srgbClr>
                  </a:gs>
                  <a:gs pos="100000">
                    <a:srgbClr val="65A6FE">
                      <a:alpha val="100000"/>
                    </a:srgbClr>
                  </a:gs>
                </a:gsLst>
                <a:lin ang="0"/>
              </a:gradFill>
              <a:prstDash val="solid"/>
              <a:miter/>
            </a:ln>
          </p:spPr>
        </p:sp>
        <p:sp>
          <p:nvSpPr>
            <p:cNvPr name="TextBox 29" id="29"/>
            <p:cNvSpPr txBox="true"/>
            <p:nvPr/>
          </p:nvSpPr>
          <p:spPr>
            <a:xfrm>
              <a:off x="76200" y="28575"/>
              <a:ext cx="660400" cy="708025"/>
            </a:xfrm>
            <a:prstGeom prst="rect">
              <a:avLst/>
            </a:prstGeom>
          </p:spPr>
          <p:txBody>
            <a:bodyPr anchor="ctr" rtlCol="false" tIns="50800" lIns="50800" bIns="50800" rIns="50800"/>
            <a:lstStyle/>
            <a:p>
              <a:pPr algn="ctr">
                <a:lnSpc>
                  <a:spcPts val="2488"/>
                </a:lnSpc>
              </a:pPr>
            </a:p>
          </p:txBody>
        </p:sp>
      </p:grpSp>
      <p:sp>
        <p:nvSpPr>
          <p:cNvPr name="TextBox 30" id="30"/>
          <p:cNvSpPr txBox="true"/>
          <p:nvPr/>
        </p:nvSpPr>
        <p:spPr>
          <a:xfrm rot="0">
            <a:off x="2825075" y="1038225"/>
            <a:ext cx="12637850" cy="721995"/>
          </a:xfrm>
          <a:prstGeom prst="rect">
            <a:avLst/>
          </a:prstGeom>
        </p:spPr>
        <p:txBody>
          <a:bodyPr anchor="t" rtlCol="false" tIns="0" lIns="0" bIns="0" rIns="0">
            <a:spAutoFit/>
          </a:bodyPr>
          <a:lstStyle/>
          <a:p>
            <a:pPr algn="ctr">
              <a:lnSpc>
                <a:spcPts val="5625"/>
              </a:lnSpc>
            </a:pPr>
            <a:r>
              <a:rPr lang="en-US" sz="4800" b="true">
                <a:solidFill>
                  <a:srgbClr val="041F60"/>
                </a:solidFill>
                <a:latin typeface="Gotham Bold"/>
                <a:ea typeface="Gotham Bold"/>
                <a:cs typeface="Gotham Bold"/>
                <a:sym typeface="Gotham Bold"/>
              </a:rPr>
              <a:t>Linear v/s Polynomial</a:t>
            </a:r>
          </a:p>
        </p:txBody>
      </p:sp>
      <p:sp>
        <p:nvSpPr>
          <p:cNvPr name="TextBox 31" id="31"/>
          <p:cNvSpPr txBox="true"/>
          <p:nvPr/>
        </p:nvSpPr>
        <p:spPr>
          <a:xfrm rot="0">
            <a:off x="8349347" y="5529418"/>
            <a:ext cx="1589306" cy="721995"/>
          </a:xfrm>
          <a:prstGeom prst="rect">
            <a:avLst/>
          </a:prstGeom>
        </p:spPr>
        <p:txBody>
          <a:bodyPr anchor="t" rtlCol="false" tIns="0" lIns="0" bIns="0" rIns="0">
            <a:spAutoFit/>
          </a:bodyPr>
          <a:lstStyle/>
          <a:p>
            <a:pPr algn="ctr">
              <a:lnSpc>
                <a:spcPts val="5625"/>
              </a:lnSpc>
            </a:pPr>
            <a:r>
              <a:rPr lang="en-US" sz="4800">
                <a:solidFill>
                  <a:srgbClr val="667198"/>
                </a:solidFill>
                <a:latin typeface="Gotham"/>
                <a:ea typeface="Gotham"/>
                <a:cs typeface="Gotham"/>
                <a:sym typeface="Gotham"/>
              </a:rPr>
              <a:t>vs</a:t>
            </a:r>
          </a:p>
        </p:txBody>
      </p:sp>
      <p:sp>
        <p:nvSpPr>
          <p:cNvPr name="TextBox 32" id="32"/>
          <p:cNvSpPr txBox="true"/>
          <p:nvPr/>
        </p:nvSpPr>
        <p:spPr>
          <a:xfrm rot="0">
            <a:off x="1588476" y="4338526"/>
            <a:ext cx="4343400" cy="3322320"/>
          </a:xfrm>
          <a:prstGeom prst="rect">
            <a:avLst/>
          </a:prstGeom>
        </p:spPr>
        <p:txBody>
          <a:bodyPr anchor="t" rtlCol="false" tIns="0" lIns="0" bIns="0" rIns="0">
            <a:spAutoFit/>
          </a:bodyPr>
          <a:lstStyle/>
          <a:p>
            <a:pPr algn="l" marL="453390" indent="-226695" lvl="1">
              <a:lnSpc>
                <a:spcPts val="3360"/>
              </a:lnSpc>
              <a:buFont typeface="Arial"/>
              <a:buChar char="•"/>
            </a:pPr>
            <a:r>
              <a:rPr lang="en-US" b="true" sz="2100">
                <a:solidFill>
                  <a:srgbClr val="041F60"/>
                </a:solidFill>
                <a:latin typeface="Gotham Bold"/>
                <a:ea typeface="Gotham Bold"/>
                <a:cs typeface="Gotham Bold"/>
                <a:sym typeface="Gotham Bold"/>
              </a:rPr>
              <a:t>Assumes a straight-line relationship between input and output</a:t>
            </a:r>
          </a:p>
          <a:p>
            <a:pPr algn="l" marL="453390" indent="-226695" lvl="1">
              <a:lnSpc>
                <a:spcPts val="3360"/>
              </a:lnSpc>
              <a:buFont typeface="Arial"/>
              <a:buChar char="•"/>
            </a:pPr>
            <a:r>
              <a:rPr lang="en-US" b="true" sz="2100">
                <a:solidFill>
                  <a:srgbClr val="041F60"/>
                </a:solidFill>
                <a:latin typeface="Gotham Bold"/>
                <a:ea typeface="Gotham Bold"/>
                <a:cs typeface="Gotham Bold"/>
                <a:sym typeface="Gotham Bold"/>
              </a:rPr>
              <a:t>Change in output is constant with respect to input</a:t>
            </a:r>
          </a:p>
          <a:p>
            <a:pPr algn="l" marL="453390" indent="-226695" lvl="1">
              <a:lnSpc>
                <a:spcPts val="3360"/>
              </a:lnSpc>
              <a:buFont typeface="Arial"/>
              <a:buChar char="•"/>
            </a:pPr>
            <a:r>
              <a:rPr lang="en-US" b="true" sz="2100">
                <a:solidFill>
                  <a:srgbClr val="041F60"/>
                </a:solidFill>
                <a:latin typeface="Gotham Bold"/>
                <a:ea typeface="Gotham Bold"/>
                <a:cs typeface="Gotham Bold"/>
                <a:sym typeface="Gotham Bold"/>
              </a:rPr>
              <a:t>Simple and easy to interpret</a:t>
            </a:r>
          </a:p>
          <a:p>
            <a:pPr algn="l">
              <a:lnSpc>
                <a:spcPts val="3360"/>
              </a:lnSpc>
            </a:pPr>
          </a:p>
        </p:txBody>
      </p:sp>
      <p:sp>
        <p:nvSpPr>
          <p:cNvPr name="TextBox 33" id="33"/>
          <p:cNvSpPr txBox="true"/>
          <p:nvPr/>
        </p:nvSpPr>
        <p:spPr>
          <a:xfrm rot="1309066">
            <a:off x="4431630" y="3690084"/>
            <a:ext cx="3316482" cy="235373"/>
          </a:xfrm>
          <a:prstGeom prst="rect">
            <a:avLst/>
          </a:prstGeom>
        </p:spPr>
        <p:txBody>
          <a:bodyPr anchor="t" rtlCol="false" tIns="0" lIns="0" bIns="0" rIns="0">
            <a:spAutoFit/>
          </a:bodyPr>
          <a:lstStyle/>
          <a:p>
            <a:pPr algn="ctr">
              <a:lnSpc>
                <a:spcPts val="1866"/>
              </a:lnSpc>
            </a:pPr>
            <a:r>
              <a:rPr lang="en-US" sz="1600">
                <a:solidFill>
                  <a:srgbClr val="667198"/>
                </a:solidFill>
                <a:latin typeface="Gotham"/>
                <a:ea typeface="Gotham"/>
                <a:cs typeface="Gotham"/>
                <a:sym typeface="Gotham"/>
              </a:rPr>
              <a:t>Linear Regression</a:t>
            </a:r>
          </a:p>
        </p:txBody>
      </p:sp>
      <p:sp>
        <p:nvSpPr>
          <p:cNvPr name="TextBox 34" id="34"/>
          <p:cNvSpPr txBox="true"/>
          <p:nvPr/>
        </p:nvSpPr>
        <p:spPr>
          <a:xfrm rot="-1308000">
            <a:off x="10540045" y="3690548"/>
            <a:ext cx="3316482" cy="235373"/>
          </a:xfrm>
          <a:prstGeom prst="rect">
            <a:avLst/>
          </a:prstGeom>
        </p:spPr>
        <p:txBody>
          <a:bodyPr anchor="t" rtlCol="false" tIns="0" lIns="0" bIns="0" rIns="0">
            <a:spAutoFit/>
          </a:bodyPr>
          <a:lstStyle/>
          <a:p>
            <a:pPr algn="ctr">
              <a:lnSpc>
                <a:spcPts val="1866"/>
              </a:lnSpc>
            </a:pPr>
            <a:r>
              <a:rPr lang="en-US" sz="1600">
                <a:solidFill>
                  <a:srgbClr val="667198"/>
                </a:solidFill>
                <a:latin typeface="Gotham"/>
                <a:ea typeface="Gotham"/>
                <a:cs typeface="Gotham"/>
                <a:sym typeface="Gotham"/>
              </a:rPr>
              <a:t>Polynomial Regression</a:t>
            </a:r>
          </a:p>
        </p:txBody>
      </p:sp>
      <p:sp>
        <p:nvSpPr>
          <p:cNvPr name="TextBox 35" id="35"/>
          <p:cNvSpPr txBox="true"/>
          <p:nvPr/>
        </p:nvSpPr>
        <p:spPr>
          <a:xfrm rot="0">
            <a:off x="12339273" y="4395943"/>
            <a:ext cx="4343400" cy="2903220"/>
          </a:xfrm>
          <a:prstGeom prst="rect">
            <a:avLst/>
          </a:prstGeom>
        </p:spPr>
        <p:txBody>
          <a:bodyPr anchor="t" rtlCol="false" tIns="0" lIns="0" bIns="0" rIns="0">
            <a:spAutoFit/>
          </a:bodyPr>
          <a:lstStyle/>
          <a:p>
            <a:pPr algn="l" marL="453390" indent="-226695" lvl="1">
              <a:lnSpc>
                <a:spcPts val="3360"/>
              </a:lnSpc>
              <a:buFont typeface="Arial"/>
              <a:buChar char="•"/>
            </a:pPr>
            <a:r>
              <a:rPr lang="en-US" b="true" sz="2100">
                <a:solidFill>
                  <a:srgbClr val="041F60"/>
                </a:solidFill>
                <a:latin typeface="Gotham Bold"/>
                <a:ea typeface="Gotham Bold"/>
                <a:cs typeface="Gotham Bold"/>
                <a:sym typeface="Gotham Bold"/>
              </a:rPr>
              <a:t>Extends linear regression by adding higher-degree terms</a:t>
            </a:r>
          </a:p>
          <a:p>
            <a:pPr algn="l" marL="453390" indent="-226695" lvl="1">
              <a:lnSpc>
                <a:spcPts val="3360"/>
              </a:lnSpc>
              <a:buFont typeface="Arial"/>
              <a:buChar char="•"/>
            </a:pPr>
            <a:r>
              <a:rPr lang="en-US" b="true" sz="2100">
                <a:solidFill>
                  <a:srgbClr val="041F60"/>
                </a:solidFill>
                <a:latin typeface="Gotham Bold"/>
                <a:ea typeface="Gotham Bold"/>
                <a:cs typeface="Gotham Bold"/>
                <a:sym typeface="Gotham Bold"/>
              </a:rPr>
              <a:t>Can model curved relationships</a:t>
            </a:r>
          </a:p>
          <a:p>
            <a:pPr algn="l" marL="453390" indent="-226695" lvl="1">
              <a:lnSpc>
                <a:spcPts val="3360"/>
              </a:lnSpc>
              <a:buFont typeface="Arial"/>
              <a:buChar char="•"/>
            </a:pPr>
            <a:r>
              <a:rPr lang="en-US" b="true" sz="2100">
                <a:solidFill>
                  <a:srgbClr val="041F60"/>
                </a:solidFill>
                <a:latin typeface="Gotham Bold"/>
                <a:ea typeface="Gotham Bold"/>
                <a:cs typeface="Gotham Bold"/>
                <a:sym typeface="Gotham Bold"/>
              </a:rPr>
              <a:t>More flexible than linear regression</a:t>
            </a:r>
          </a:p>
          <a:p>
            <a:pPr algn="l" marL="453390" indent="-226695" lvl="1">
              <a:lnSpc>
                <a:spcPts val="3360"/>
              </a:lnSpc>
              <a:buFont typeface="Arial"/>
              <a:buChar char="•"/>
            </a:pPr>
            <a:r>
              <a:rPr lang="en-US" b="true" sz="2100">
                <a:solidFill>
                  <a:srgbClr val="041F60"/>
                </a:solidFill>
                <a:latin typeface="Gotham Bold"/>
                <a:ea typeface="Gotham Bold"/>
                <a:cs typeface="Gotham Bold"/>
                <a:sym typeface="Gotham Bold"/>
              </a:rPr>
              <a:t>Captures non-linear trends</a:t>
            </a:r>
          </a:p>
        </p:txBody>
      </p:sp>
      <p:grpSp>
        <p:nvGrpSpPr>
          <p:cNvPr name="Group 36" id="36"/>
          <p:cNvGrpSpPr/>
          <p:nvPr/>
        </p:nvGrpSpPr>
        <p:grpSpPr>
          <a:xfrm rot="0">
            <a:off x="6627201" y="4727945"/>
            <a:ext cx="819470" cy="966930"/>
            <a:chOff x="0" y="0"/>
            <a:chExt cx="1092627" cy="1289241"/>
          </a:xfrm>
        </p:grpSpPr>
        <p:sp>
          <p:nvSpPr>
            <p:cNvPr name="Freeform 37" id="37"/>
            <p:cNvSpPr/>
            <p:nvPr/>
          </p:nvSpPr>
          <p:spPr>
            <a:xfrm flipH="false" flipV="false" rot="0">
              <a:off x="0" y="198600"/>
              <a:ext cx="1092627" cy="1090641"/>
            </a:xfrm>
            <a:custGeom>
              <a:avLst/>
              <a:gdLst/>
              <a:ahLst/>
              <a:cxnLst/>
              <a:rect r="r" b="b" t="t" l="l"/>
              <a:pathLst>
                <a:path h="1090641" w="1092627">
                  <a:moveTo>
                    <a:pt x="0" y="0"/>
                  </a:moveTo>
                  <a:lnTo>
                    <a:pt x="1092627" y="0"/>
                  </a:lnTo>
                  <a:lnTo>
                    <a:pt x="1092627" y="1090641"/>
                  </a:lnTo>
                  <a:lnTo>
                    <a:pt x="0" y="1090641"/>
                  </a:lnTo>
                  <a:lnTo>
                    <a:pt x="0" y="0"/>
                  </a:lnTo>
                  <a:close/>
                </a:path>
              </a:pathLst>
            </a:custGeom>
            <a:blipFill>
              <a:blip r:embed="rId3">
                <a:alphaModFix amt="50000"/>
              </a:blip>
              <a:stretch>
                <a:fillRect l="0" t="0" r="0" b="0"/>
              </a:stretch>
            </a:blipFill>
          </p:spPr>
        </p:sp>
        <p:grpSp>
          <p:nvGrpSpPr>
            <p:cNvPr name="Group 38" id="38"/>
            <p:cNvGrpSpPr/>
            <p:nvPr/>
          </p:nvGrpSpPr>
          <p:grpSpPr>
            <a:xfrm rot="0">
              <a:off x="41073" y="80317"/>
              <a:ext cx="1010481" cy="1010481"/>
              <a:chOff x="0" y="0"/>
              <a:chExt cx="812800" cy="812800"/>
            </a:xfrm>
          </p:grpSpPr>
          <p:sp>
            <p:nvSpPr>
              <p:cNvPr name="Freeform 39" id="3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EBF4"/>
              </a:solidFill>
            </p:spPr>
          </p:sp>
          <p:sp>
            <p:nvSpPr>
              <p:cNvPr name="TextBox 40" id="40"/>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grpSp>
          <p:nvGrpSpPr>
            <p:cNvPr name="Group 41" id="41"/>
            <p:cNvGrpSpPr/>
            <p:nvPr/>
          </p:nvGrpSpPr>
          <p:grpSpPr>
            <a:xfrm rot="0">
              <a:off x="41073" y="0"/>
              <a:ext cx="1010481" cy="1010481"/>
              <a:chOff x="0" y="0"/>
              <a:chExt cx="812800" cy="812800"/>
            </a:xfrm>
          </p:grpSpPr>
          <p:sp>
            <p:nvSpPr>
              <p:cNvPr name="Freeform 42" id="4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DFE"/>
              </a:solidFill>
            </p:spPr>
          </p:sp>
          <p:sp>
            <p:nvSpPr>
              <p:cNvPr name="TextBox 43" id="43"/>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grpSp>
      <p:grpSp>
        <p:nvGrpSpPr>
          <p:cNvPr name="Group 44" id="44"/>
          <p:cNvGrpSpPr/>
          <p:nvPr/>
        </p:nvGrpSpPr>
        <p:grpSpPr>
          <a:xfrm rot="0">
            <a:off x="10843528" y="4727945"/>
            <a:ext cx="819470" cy="966930"/>
            <a:chOff x="0" y="0"/>
            <a:chExt cx="1092627" cy="1289241"/>
          </a:xfrm>
        </p:grpSpPr>
        <p:sp>
          <p:nvSpPr>
            <p:cNvPr name="Freeform 45" id="45"/>
            <p:cNvSpPr/>
            <p:nvPr/>
          </p:nvSpPr>
          <p:spPr>
            <a:xfrm flipH="false" flipV="false" rot="0">
              <a:off x="0" y="198600"/>
              <a:ext cx="1092627" cy="1090641"/>
            </a:xfrm>
            <a:custGeom>
              <a:avLst/>
              <a:gdLst/>
              <a:ahLst/>
              <a:cxnLst/>
              <a:rect r="r" b="b" t="t" l="l"/>
              <a:pathLst>
                <a:path h="1090641" w="1092627">
                  <a:moveTo>
                    <a:pt x="0" y="0"/>
                  </a:moveTo>
                  <a:lnTo>
                    <a:pt x="1092627" y="0"/>
                  </a:lnTo>
                  <a:lnTo>
                    <a:pt x="1092627" y="1090641"/>
                  </a:lnTo>
                  <a:lnTo>
                    <a:pt x="0" y="1090641"/>
                  </a:lnTo>
                  <a:lnTo>
                    <a:pt x="0" y="0"/>
                  </a:lnTo>
                  <a:close/>
                </a:path>
              </a:pathLst>
            </a:custGeom>
            <a:blipFill>
              <a:blip r:embed="rId3">
                <a:alphaModFix amt="50000"/>
              </a:blip>
              <a:stretch>
                <a:fillRect l="0" t="0" r="0" b="0"/>
              </a:stretch>
            </a:blipFill>
          </p:spPr>
        </p:sp>
        <p:grpSp>
          <p:nvGrpSpPr>
            <p:cNvPr name="Group 46" id="46"/>
            <p:cNvGrpSpPr/>
            <p:nvPr/>
          </p:nvGrpSpPr>
          <p:grpSpPr>
            <a:xfrm rot="0">
              <a:off x="41073" y="80317"/>
              <a:ext cx="1010481" cy="1010481"/>
              <a:chOff x="0" y="0"/>
              <a:chExt cx="812800" cy="812800"/>
            </a:xfrm>
          </p:grpSpPr>
          <p:sp>
            <p:nvSpPr>
              <p:cNvPr name="Freeform 47" id="4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EBF4"/>
              </a:solidFill>
            </p:spPr>
          </p:sp>
          <p:sp>
            <p:nvSpPr>
              <p:cNvPr name="TextBox 48" id="48"/>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grpSp>
          <p:nvGrpSpPr>
            <p:cNvPr name="Group 49" id="49"/>
            <p:cNvGrpSpPr/>
            <p:nvPr/>
          </p:nvGrpSpPr>
          <p:grpSpPr>
            <a:xfrm rot="0">
              <a:off x="41073" y="0"/>
              <a:ext cx="1010481" cy="1010481"/>
              <a:chOff x="0" y="0"/>
              <a:chExt cx="812800" cy="812800"/>
            </a:xfrm>
          </p:grpSpPr>
          <p:sp>
            <p:nvSpPr>
              <p:cNvPr name="Freeform 50" id="50"/>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DFE"/>
              </a:solidFill>
            </p:spPr>
          </p:sp>
          <p:sp>
            <p:nvSpPr>
              <p:cNvPr name="TextBox 51" id="51"/>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grpSp>
      <p:grpSp>
        <p:nvGrpSpPr>
          <p:cNvPr name="Group 52" id="52"/>
          <p:cNvGrpSpPr/>
          <p:nvPr/>
        </p:nvGrpSpPr>
        <p:grpSpPr>
          <a:xfrm rot="0">
            <a:off x="6627201" y="6226072"/>
            <a:ext cx="819470" cy="966930"/>
            <a:chOff x="0" y="0"/>
            <a:chExt cx="1092627" cy="1289241"/>
          </a:xfrm>
        </p:grpSpPr>
        <p:sp>
          <p:nvSpPr>
            <p:cNvPr name="Freeform 53" id="53"/>
            <p:cNvSpPr/>
            <p:nvPr/>
          </p:nvSpPr>
          <p:spPr>
            <a:xfrm flipH="false" flipV="false" rot="0">
              <a:off x="0" y="198600"/>
              <a:ext cx="1092627" cy="1090641"/>
            </a:xfrm>
            <a:custGeom>
              <a:avLst/>
              <a:gdLst/>
              <a:ahLst/>
              <a:cxnLst/>
              <a:rect r="r" b="b" t="t" l="l"/>
              <a:pathLst>
                <a:path h="1090641" w="1092627">
                  <a:moveTo>
                    <a:pt x="0" y="0"/>
                  </a:moveTo>
                  <a:lnTo>
                    <a:pt x="1092627" y="0"/>
                  </a:lnTo>
                  <a:lnTo>
                    <a:pt x="1092627" y="1090641"/>
                  </a:lnTo>
                  <a:lnTo>
                    <a:pt x="0" y="1090641"/>
                  </a:lnTo>
                  <a:lnTo>
                    <a:pt x="0" y="0"/>
                  </a:lnTo>
                  <a:close/>
                </a:path>
              </a:pathLst>
            </a:custGeom>
            <a:blipFill>
              <a:blip r:embed="rId3">
                <a:alphaModFix amt="50000"/>
              </a:blip>
              <a:stretch>
                <a:fillRect l="0" t="0" r="0" b="0"/>
              </a:stretch>
            </a:blipFill>
          </p:spPr>
        </p:sp>
        <p:grpSp>
          <p:nvGrpSpPr>
            <p:cNvPr name="Group 54" id="54"/>
            <p:cNvGrpSpPr/>
            <p:nvPr/>
          </p:nvGrpSpPr>
          <p:grpSpPr>
            <a:xfrm rot="0">
              <a:off x="41073" y="80317"/>
              <a:ext cx="1010481" cy="1010481"/>
              <a:chOff x="0" y="0"/>
              <a:chExt cx="812800" cy="812800"/>
            </a:xfrm>
          </p:grpSpPr>
          <p:sp>
            <p:nvSpPr>
              <p:cNvPr name="Freeform 55" id="5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EBF4"/>
              </a:solidFill>
            </p:spPr>
          </p:sp>
          <p:sp>
            <p:nvSpPr>
              <p:cNvPr name="TextBox 56" id="56"/>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grpSp>
          <p:nvGrpSpPr>
            <p:cNvPr name="Group 57" id="57"/>
            <p:cNvGrpSpPr/>
            <p:nvPr/>
          </p:nvGrpSpPr>
          <p:grpSpPr>
            <a:xfrm rot="0">
              <a:off x="41073" y="0"/>
              <a:ext cx="1010481" cy="1010481"/>
              <a:chOff x="0" y="0"/>
              <a:chExt cx="812800" cy="812800"/>
            </a:xfrm>
          </p:grpSpPr>
          <p:sp>
            <p:nvSpPr>
              <p:cNvPr name="Freeform 58" id="5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DFE"/>
              </a:solidFill>
            </p:spPr>
          </p:sp>
          <p:sp>
            <p:nvSpPr>
              <p:cNvPr name="TextBox 59" id="59"/>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grpSp>
      <p:grpSp>
        <p:nvGrpSpPr>
          <p:cNvPr name="Group 60" id="60"/>
          <p:cNvGrpSpPr/>
          <p:nvPr/>
        </p:nvGrpSpPr>
        <p:grpSpPr>
          <a:xfrm rot="0">
            <a:off x="10843528" y="6226072"/>
            <a:ext cx="819470" cy="966930"/>
            <a:chOff x="0" y="0"/>
            <a:chExt cx="1092627" cy="1289241"/>
          </a:xfrm>
        </p:grpSpPr>
        <p:sp>
          <p:nvSpPr>
            <p:cNvPr name="Freeform 61" id="61"/>
            <p:cNvSpPr/>
            <p:nvPr/>
          </p:nvSpPr>
          <p:spPr>
            <a:xfrm flipH="false" flipV="false" rot="0">
              <a:off x="0" y="198600"/>
              <a:ext cx="1092627" cy="1090641"/>
            </a:xfrm>
            <a:custGeom>
              <a:avLst/>
              <a:gdLst/>
              <a:ahLst/>
              <a:cxnLst/>
              <a:rect r="r" b="b" t="t" l="l"/>
              <a:pathLst>
                <a:path h="1090641" w="1092627">
                  <a:moveTo>
                    <a:pt x="0" y="0"/>
                  </a:moveTo>
                  <a:lnTo>
                    <a:pt x="1092627" y="0"/>
                  </a:lnTo>
                  <a:lnTo>
                    <a:pt x="1092627" y="1090641"/>
                  </a:lnTo>
                  <a:lnTo>
                    <a:pt x="0" y="1090641"/>
                  </a:lnTo>
                  <a:lnTo>
                    <a:pt x="0" y="0"/>
                  </a:lnTo>
                  <a:close/>
                </a:path>
              </a:pathLst>
            </a:custGeom>
            <a:blipFill>
              <a:blip r:embed="rId3">
                <a:alphaModFix amt="50000"/>
              </a:blip>
              <a:stretch>
                <a:fillRect l="0" t="0" r="0" b="0"/>
              </a:stretch>
            </a:blipFill>
          </p:spPr>
        </p:sp>
        <p:grpSp>
          <p:nvGrpSpPr>
            <p:cNvPr name="Group 62" id="62"/>
            <p:cNvGrpSpPr/>
            <p:nvPr/>
          </p:nvGrpSpPr>
          <p:grpSpPr>
            <a:xfrm rot="0">
              <a:off x="41073" y="80317"/>
              <a:ext cx="1010481" cy="1010481"/>
              <a:chOff x="0" y="0"/>
              <a:chExt cx="812800" cy="812800"/>
            </a:xfrm>
          </p:grpSpPr>
          <p:sp>
            <p:nvSpPr>
              <p:cNvPr name="Freeform 63" id="6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9EBF4"/>
              </a:solidFill>
            </p:spPr>
          </p:sp>
          <p:sp>
            <p:nvSpPr>
              <p:cNvPr name="TextBox 64" id="64"/>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grpSp>
          <p:nvGrpSpPr>
            <p:cNvPr name="Group 65" id="65"/>
            <p:cNvGrpSpPr/>
            <p:nvPr/>
          </p:nvGrpSpPr>
          <p:grpSpPr>
            <a:xfrm rot="0">
              <a:off x="41073" y="0"/>
              <a:ext cx="1010481" cy="1010481"/>
              <a:chOff x="0" y="0"/>
              <a:chExt cx="812800" cy="812800"/>
            </a:xfrm>
          </p:grpSpPr>
          <p:sp>
            <p:nvSpPr>
              <p:cNvPr name="Freeform 66" id="66"/>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CFDFE"/>
              </a:solidFill>
            </p:spPr>
          </p:sp>
          <p:sp>
            <p:nvSpPr>
              <p:cNvPr name="TextBox 67" id="67"/>
              <p:cNvSpPr txBox="true"/>
              <p:nvPr/>
            </p:nvSpPr>
            <p:spPr>
              <a:xfrm>
                <a:off x="76200" y="28575"/>
                <a:ext cx="660400" cy="708025"/>
              </a:xfrm>
              <a:prstGeom prst="rect">
                <a:avLst/>
              </a:prstGeom>
            </p:spPr>
            <p:txBody>
              <a:bodyPr anchor="ctr" rtlCol="false" tIns="36939" lIns="36939" bIns="36939" rIns="36939"/>
              <a:lstStyle/>
              <a:p>
                <a:pPr algn="ctr">
                  <a:lnSpc>
                    <a:spcPts val="2488"/>
                  </a:lnSpc>
                </a:pPr>
              </a:p>
            </p:txBody>
          </p:sp>
        </p:grpSp>
      </p:grpSp>
      <p:sp>
        <p:nvSpPr>
          <p:cNvPr name="Freeform 68" id="68"/>
          <p:cNvSpPr/>
          <p:nvPr/>
        </p:nvSpPr>
        <p:spPr>
          <a:xfrm flipH="false" flipV="false" rot="0">
            <a:off x="6817625" y="4868037"/>
            <a:ext cx="438623" cy="438623"/>
          </a:xfrm>
          <a:custGeom>
            <a:avLst/>
            <a:gdLst/>
            <a:ahLst/>
            <a:cxnLst/>
            <a:rect r="r" b="b" t="t" l="l"/>
            <a:pathLst>
              <a:path h="438623" w="438623">
                <a:moveTo>
                  <a:pt x="0" y="0"/>
                </a:moveTo>
                <a:lnTo>
                  <a:pt x="438623" y="0"/>
                </a:lnTo>
                <a:lnTo>
                  <a:pt x="438623" y="438623"/>
                </a:lnTo>
                <a:lnTo>
                  <a:pt x="0" y="438623"/>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9" id="69"/>
          <p:cNvSpPr/>
          <p:nvPr/>
        </p:nvSpPr>
        <p:spPr>
          <a:xfrm flipH="false" flipV="false" rot="0">
            <a:off x="6817625" y="6393866"/>
            <a:ext cx="438623" cy="438623"/>
          </a:xfrm>
          <a:custGeom>
            <a:avLst/>
            <a:gdLst/>
            <a:ahLst/>
            <a:cxnLst/>
            <a:rect r="r" b="b" t="t" l="l"/>
            <a:pathLst>
              <a:path h="438623" w="438623">
                <a:moveTo>
                  <a:pt x="0" y="0"/>
                </a:moveTo>
                <a:lnTo>
                  <a:pt x="438623" y="0"/>
                </a:lnTo>
                <a:lnTo>
                  <a:pt x="438623" y="438623"/>
                </a:lnTo>
                <a:lnTo>
                  <a:pt x="0" y="438623"/>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70" id="70"/>
          <p:cNvSpPr/>
          <p:nvPr/>
        </p:nvSpPr>
        <p:spPr>
          <a:xfrm flipH="false" flipV="false" rot="0">
            <a:off x="11053055" y="4895613"/>
            <a:ext cx="438623" cy="438623"/>
          </a:xfrm>
          <a:custGeom>
            <a:avLst/>
            <a:gdLst/>
            <a:ahLst/>
            <a:cxnLst/>
            <a:rect r="r" b="b" t="t" l="l"/>
            <a:pathLst>
              <a:path h="438623" w="438623">
                <a:moveTo>
                  <a:pt x="0" y="0"/>
                </a:moveTo>
                <a:lnTo>
                  <a:pt x="438623" y="0"/>
                </a:lnTo>
                <a:lnTo>
                  <a:pt x="438623" y="438624"/>
                </a:lnTo>
                <a:lnTo>
                  <a:pt x="0" y="438624"/>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1" id="71"/>
          <p:cNvSpPr/>
          <p:nvPr/>
        </p:nvSpPr>
        <p:spPr>
          <a:xfrm flipH="false" flipV="false" rot="0">
            <a:off x="11033898" y="6412184"/>
            <a:ext cx="438730" cy="401987"/>
          </a:xfrm>
          <a:custGeom>
            <a:avLst/>
            <a:gdLst/>
            <a:ahLst/>
            <a:cxnLst/>
            <a:rect r="r" b="b" t="t" l="l"/>
            <a:pathLst>
              <a:path h="401987" w="438730">
                <a:moveTo>
                  <a:pt x="0" y="0"/>
                </a:moveTo>
                <a:lnTo>
                  <a:pt x="438730" y="0"/>
                </a:lnTo>
                <a:lnTo>
                  <a:pt x="438730" y="401987"/>
                </a:lnTo>
                <a:lnTo>
                  <a:pt x="0" y="401987"/>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3F4FA"/>
        </a:solidFill>
      </p:bgPr>
    </p:bg>
    <p:spTree>
      <p:nvGrpSpPr>
        <p:cNvPr id="1" name=""/>
        <p:cNvGrpSpPr/>
        <p:nvPr/>
      </p:nvGrpSpPr>
      <p:grpSpPr>
        <a:xfrm>
          <a:off x="0" y="0"/>
          <a:ext cx="0" cy="0"/>
          <a:chOff x="0" y="0"/>
          <a:chExt cx="0" cy="0"/>
        </a:xfrm>
      </p:grpSpPr>
      <p:sp>
        <p:nvSpPr>
          <p:cNvPr name="Freeform 2" id="2"/>
          <p:cNvSpPr/>
          <p:nvPr/>
        </p:nvSpPr>
        <p:spPr>
          <a:xfrm flipH="false" flipV="false" rot="0">
            <a:off x="2828119" y="586549"/>
            <a:ext cx="12138327" cy="9058226"/>
          </a:xfrm>
          <a:custGeom>
            <a:avLst/>
            <a:gdLst/>
            <a:ahLst/>
            <a:cxnLst/>
            <a:rect r="r" b="b" t="t" l="l"/>
            <a:pathLst>
              <a:path h="9058226" w="12138327">
                <a:moveTo>
                  <a:pt x="0" y="0"/>
                </a:moveTo>
                <a:lnTo>
                  <a:pt x="12138327" y="0"/>
                </a:lnTo>
                <a:lnTo>
                  <a:pt x="12138327" y="9058226"/>
                </a:lnTo>
                <a:lnTo>
                  <a:pt x="0" y="9058226"/>
                </a:lnTo>
                <a:lnTo>
                  <a:pt x="0" y="0"/>
                </a:lnTo>
                <a:close/>
              </a:path>
            </a:pathLst>
          </a:custGeom>
          <a:blipFill>
            <a:blip r:embed="rId2"/>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3F4FA"/>
        </a:solidFill>
      </p:bgPr>
    </p:bg>
    <p:spTree>
      <p:nvGrpSpPr>
        <p:cNvPr id="1" name=""/>
        <p:cNvGrpSpPr/>
        <p:nvPr/>
      </p:nvGrpSpPr>
      <p:grpSpPr>
        <a:xfrm>
          <a:off x="0" y="0"/>
          <a:ext cx="0" cy="0"/>
          <a:chOff x="0" y="0"/>
          <a:chExt cx="0" cy="0"/>
        </a:xfrm>
      </p:grpSpPr>
      <p:sp>
        <p:nvSpPr>
          <p:cNvPr name="Freeform 2" id="2"/>
          <p:cNvSpPr/>
          <p:nvPr/>
        </p:nvSpPr>
        <p:spPr>
          <a:xfrm flipH="false" flipV="false" rot="0">
            <a:off x="8080174" y="1057275"/>
            <a:ext cx="9179126" cy="8478613"/>
          </a:xfrm>
          <a:custGeom>
            <a:avLst/>
            <a:gdLst/>
            <a:ahLst/>
            <a:cxnLst/>
            <a:rect r="r" b="b" t="t" l="l"/>
            <a:pathLst>
              <a:path h="8478613" w="9179126">
                <a:moveTo>
                  <a:pt x="0" y="0"/>
                </a:moveTo>
                <a:lnTo>
                  <a:pt x="9179126" y="0"/>
                </a:lnTo>
                <a:lnTo>
                  <a:pt x="9179126" y="8478613"/>
                </a:lnTo>
                <a:lnTo>
                  <a:pt x="0" y="8478613"/>
                </a:lnTo>
                <a:lnTo>
                  <a:pt x="0" y="0"/>
                </a:lnTo>
                <a:close/>
              </a:path>
            </a:pathLst>
          </a:custGeom>
          <a:blipFill>
            <a:blip r:embed="rId2"/>
            <a:stretch>
              <a:fillRect l="0" t="0" r="0" b="0"/>
            </a:stretch>
          </a:blipFill>
        </p:spPr>
      </p:sp>
      <p:sp>
        <p:nvSpPr>
          <p:cNvPr name="TextBox 3" id="3"/>
          <p:cNvSpPr txBox="true"/>
          <p:nvPr/>
        </p:nvSpPr>
        <p:spPr>
          <a:xfrm rot="0">
            <a:off x="921356" y="1914102"/>
            <a:ext cx="6091486" cy="7344198"/>
          </a:xfrm>
          <a:prstGeom prst="rect">
            <a:avLst/>
          </a:prstGeom>
        </p:spPr>
        <p:txBody>
          <a:bodyPr anchor="t" rtlCol="false" tIns="0" lIns="0" bIns="0" rIns="0">
            <a:spAutoFit/>
          </a:bodyPr>
          <a:lstStyle/>
          <a:p>
            <a:pPr algn="l" marL="453387" indent="-226693" lvl="1">
              <a:lnSpc>
                <a:spcPts val="3266"/>
              </a:lnSpc>
              <a:buFont typeface="Arial"/>
              <a:buChar char="•"/>
            </a:pPr>
            <a:r>
              <a:rPr lang="en-US" sz="2099">
                <a:solidFill>
                  <a:srgbClr val="000000"/>
                </a:solidFill>
                <a:latin typeface="Canva Sans"/>
                <a:ea typeface="Canva Sans"/>
                <a:cs typeface="Canva Sans"/>
                <a:sym typeface="Canva Sans"/>
              </a:rPr>
              <a:t>Both models (Linear and Random Forest) show a strong positive alignment with actual prices, indicating decent predictive performance.</a:t>
            </a:r>
          </a:p>
          <a:p>
            <a:pPr algn="l" marL="453387" indent="-226693" lvl="1">
              <a:lnSpc>
                <a:spcPts val="3266"/>
              </a:lnSpc>
              <a:buFont typeface="Arial"/>
              <a:buChar char="•"/>
            </a:pPr>
            <a:r>
              <a:rPr lang="en-US" sz="2099">
                <a:solidFill>
                  <a:srgbClr val="000000"/>
                </a:solidFill>
                <a:latin typeface="Canva Sans"/>
                <a:ea typeface="Canva Sans"/>
                <a:cs typeface="Canva Sans"/>
                <a:sym typeface="Canva Sans"/>
              </a:rPr>
              <a:t>Points closer to the diagonal dashed line represent more accurate predictions.</a:t>
            </a:r>
          </a:p>
          <a:p>
            <a:pPr algn="l" marL="453387" indent="-226693" lvl="1">
              <a:lnSpc>
                <a:spcPts val="3266"/>
              </a:lnSpc>
              <a:buFont typeface="Arial"/>
              <a:buChar char="•"/>
            </a:pPr>
            <a:r>
              <a:rPr lang="en-US" sz="2099">
                <a:solidFill>
                  <a:srgbClr val="000000"/>
                </a:solidFill>
                <a:latin typeface="Canva Sans"/>
                <a:ea typeface="Canva Sans"/>
                <a:cs typeface="Canva Sans"/>
                <a:sym typeface="Canva Sans"/>
              </a:rPr>
              <a:t>The Random Forest model (orange) generally clusters closer to the diagonal, suggesting slightly better accuracy overall.</a:t>
            </a:r>
          </a:p>
          <a:p>
            <a:pPr algn="l" marL="453387" indent="-226693" lvl="1">
              <a:lnSpc>
                <a:spcPts val="3266"/>
              </a:lnSpc>
              <a:buFont typeface="Arial"/>
              <a:buChar char="•"/>
            </a:pPr>
            <a:r>
              <a:rPr lang="en-US" sz="2099">
                <a:solidFill>
                  <a:srgbClr val="000000"/>
                </a:solidFill>
                <a:latin typeface="Canva Sans"/>
                <a:ea typeface="Canva Sans"/>
                <a:cs typeface="Canva Sans"/>
                <a:sym typeface="Canva Sans"/>
              </a:rPr>
              <a:t>The Linear model (blue) shows more dispersion, especially at higher price ranges.</a:t>
            </a:r>
          </a:p>
          <a:p>
            <a:pPr algn="l" marL="453387" indent="-226693" lvl="1">
              <a:lnSpc>
                <a:spcPts val="3266"/>
              </a:lnSpc>
              <a:buFont typeface="Arial"/>
              <a:buChar char="•"/>
            </a:pPr>
            <a:r>
              <a:rPr lang="en-US" sz="2099">
                <a:solidFill>
                  <a:srgbClr val="000000"/>
                </a:solidFill>
                <a:latin typeface="Canva Sans"/>
                <a:ea typeface="Canva Sans"/>
                <a:cs typeface="Canva Sans"/>
                <a:sym typeface="Canva Sans"/>
              </a:rPr>
              <a:t>Both models tend to underpredict very high-priced homes (points fall below the diagonal at the upper end).</a:t>
            </a:r>
          </a:p>
          <a:p>
            <a:pPr algn="l" marL="453387" indent="-226693" lvl="1">
              <a:lnSpc>
                <a:spcPts val="3266"/>
              </a:lnSpc>
              <a:buFont typeface="Arial"/>
              <a:buChar char="•"/>
            </a:pPr>
            <a:r>
              <a:rPr lang="en-US" sz="2099">
                <a:solidFill>
                  <a:srgbClr val="000000"/>
                </a:solidFill>
                <a:latin typeface="Canva Sans"/>
                <a:ea typeface="Canva Sans"/>
                <a:cs typeface="Canva Sans"/>
                <a:sym typeface="Canva Sans"/>
              </a:rPr>
              <a:t>Prediction errors increase as actual prices rise, indicating reduced accuracy for expensive properties.</a:t>
            </a:r>
          </a:p>
        </p:txBody>
      </p:sp>
      <p:sp>
        <p:nvSpPr>
          <p:cNvPr name="TextBox 4" id="4"/>
          <p:cNvSpPr txBox="true"/>
          <p:nvPr/>
        </p:nvSpPr>
        <p:spPr>
          <a:xfrm rot="0">
            <a:off x="-2059060" y="1038225"/>
            <a:ext cx="12637850" cy="721995"/>
          </a:xfrm>
          <a:prstGeom prst="rect">
            <a:avLst/>
          </a:prstGeom>
        </p:spPr>
        <p:txBody>
          <a:bodyPr anchor="t" rtlCol="false" tIns="0" lIns="0" bIns="0" rIns="0">
            <a:spAutoFit/>
          </a:bodyPr>
          <a:lstStyle/>
          <a:p>
            <a:pPr algn="ctr">
              <a:lnSpc>
                <a:spcPts val="5625"/>
              </a:lnSpc>
            </a:pPr>
            <a:r>
              <a:rPr lang="en-US" sz="4800" b="true">
                <a:solidFill>
                  <a:srgbClr val="041F60"/>
                </a:solidFill>
                <a:latin typeface="Gotham Bold"/>
                <a:ea typeface="Gotham Bold"/>
                <a:cs typeface="Gotham Bold"/>
                <a:sym typeface="Gotham Bold"/>
              </a:rPr>
              <a:t>Actual v/s Predicted</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3F4FA"/>
        </a:solidFill>
      </p:bgPr>
    </p:bg>
    <p:spTree>
      <p:nvGrpSpPr>
        <p:cNvPr id="1" name=""/>
        <p:cNvGrpSpPr/>
        <p:nvPr/>
      </p:nvGrpSpPr>
      <p:grpSpPr>
        <a:xfrm>
          <a:off x="0" y="0"/>
          <a:ext cx="0" cy="0"/>
          <a:chOff x="0" y="0"/>
          <a:chExt cx="0" cy="0"/>
        </a:xfrm>
      </p:grpSpPr>
      <p:sp>
        <p:nvSpPr>
          <p:cNvPr name="Freeform 2" id="2"/>
          <p:cNvSpPr/>
          <p:nvPr/>
        </p:nvSpPr>
        <p:spPr>
          <a:xfrm flipH="false" flipV="false" rot="0">
            <a:off x="13617844" y="542925"/>
            <a:ext cx="4060556" cy="10151390"/>
          </a:xfrm>
          <a:custGeom>
            <a:avLst/>
            <a:gdLst/>
            <a:ahLst/>
            <a:cxnLst/>
            <a:rect r="r" b="b" t="t" l="l"/>
            <a:pathLst>
              <a:path h="10151390" w="4060556">
                <a:moveTo>
                  <a:pt x="0" y="0"/>
                </a:moveTo>
                <a:lnTo>
                  <a:pt x="4060556" y="0"/>
                </a:lnTo>
                <a:lnTo>
                  <a:pt x="4060556" y="10151390"/>
                </a:lnTo>
                <a:lnTo>
                  <a:pt x="0" y="10151390"/>
                </a:lnTo>
                <a:lnTo>
                  <a:pt x="0" y="0"/>
                </a:lnTo>
                <a:close/>
              </a:path>
            </a:pathLst>
          </a:custGeom>
          <a:blipFill>
            <a:blip r:embed="rId2">
              <a:alphaModFix amt="24000"/>
            </a:blip>
            <a:stretch>
              <a:fillRect l="0" t="0" r="0" b="0"/>
            </a:stretch>
          </a:blipFill>
          <a:ln cap="sq">
            <a:noFill/>
            <a:prstDash val="solid"/>
            <a:miter/>
          </a:ln>
        </p:spPr>
      </p:sp>
      <p:grpSp>
        <p:nvGrpSpPr>
          <p:cNvPr name="Group 3" id="3"/>
          <p:cNvGrpSpPr/>
          <p:nvPr/>
        </p:nvGrpSpPr>
        <p:grpSpPr>
          <a:xfrm rot="5400000">
            <a:off x="-4527" y="-252072"/>
            <a:ext cx="10706309" cy="10791145"/>
            <a:chOff x="0" y="0"/>
            <a:chExt cx="2448171" cy="2467570"/>
          </a:xfrm>
        </p:grpSpPr>
        <p:sp>
          <p:nvSpPr>
            <p:cNvPr name="Freeform 4" id="4"/>
            <p:cNvSpPr/>
            <p:nvPr/>
          </p:nvSpPr>
          <p:spPr>
            <a:xfrm flipH="false" flipV="false" rot="0">
              <a:off x="0" y="0"/>
              <a:ext cx="2448171" cy="2467570"/>
            </a:xfrm>
            <a:custGeom>
              <a:avLst/>
              <a:gdLst/>
              <a:ahLst/>
              <a:cxnLst/>
              <a:rect r="r" b="b" t="t" l="l"/>
              <a:pathLst>
                <a:path h="2467570" w="2448171">
                  <a:moveTo>
                    <a:pt x="1224086" y="0"/>
                  </a:moveTo>
                  <a:lnTo>
                    <a:pt x="2448171" y="2467570"/>
                  </a:lnTo>
                  <a:lnTo>
                    <a:pt x="0" y="2467570"/>
                  </a:lnTo>
                  <a:lnTo>
                    <a:pt x="1224086" y="0"/>
                  </a:lnTo>
                  <a:close/>
                </a:path>
              </a:pathLst>
            </a:custGeom>
            <a:gradFill rotWithShape="true">
              <a:gsLst>
                <a:gs pos="0">
                  <a:srgbClr val="6AD572">
                    <a:alpha val="0"/>
                  </a:srgbClr>
                </a:gs>
                <a:gs pos="50000">
                  <a:srgbClr val="6AD572">
                    <a:alpha val="0"/>
                  </a:srgbClr>
                </a:gs>
                <a:gs pos="100000">
                  <a:srgbClr val="6AD572">
                    <a:alpha val="30500"/>
                  </a:srgbClr>
                </a:gs>
              </a:gsLst>
              <a:lin ang="5400000"/>
            </a:gradFill>
          </p:spPr>
        </p:sp>
        <p:sp>
          <p:nvSpPr>
            <p:cNvPr name="TextBox 5" id="5"/>
            <p:cNvSpPr txBox="true"/>
            <p:nvPr/>
          </p:nvSpPr>
          <p:spPr>
            <a:xfrm>
              <a:off x="382527" y="1098033"/>
              <a:ext cx="1683118" cy="1193283"/>
            </a:xfrm>
            <a:prstGeom prst="rect">
              <a:avLst/>
            </a:prstGeom>
          </p:spPr>
          <p:txBody>
            <a:bodyPr anchor="ctr" rtlCol="false" tIns="50800" lIns="50800" bIns="50800" rIns="50800"/>
            <a:lstStyle/>
            <a:p>
              <a:pPr algn="ctr">
                <a:lnSpc>
                  <a:spcPts val="2488"/>
                </a:lnSpc>
              </a:pPr>
            </a:p>
          </p:txBody>
        </p:sp>
      </p:grpSp>
      <p:sp>
        <p:nvSpPr>
          <p:cNvPr name="Freeform 6" id="6"/>
          <p:cNvSpPr/>
          <p:nvPr/>
        </p:nvSpPr>
        <p:spPr>
          <a:xfrm flipH="false" flipV="false" rot="0">
            <a:off x="6226592" y="542925"/>
            <a:ext cx="5075695" cy="10151390"/>
          </a:xfrm>
          <a:custGeom>
            <a:avLst/>
            <a:gdLst/>
            <a:ahLst/>
            <a:cxnLst/>
            <a:rect r="r" b="b" t="t" l="l"/>
            <a:pathLst>
              <a:path h="10151390" w="5075695">
                <a:moveTo>
                  <a:pt x="0" y="0"/>
                </a:moveTo>
                <a:lnTo>
                  <a:pt x="5075696" y="0"/>
                </a:lnTo>
                <a:lnTo>
                  <a:pt x="5075696" y="10151390"/>
                </a:lnTo>
                <a:lnTo>
                  <a:pt x="0" y="10151390"/>
                </a:lnTo>
                <a:lnTo>
                  <a:pt x="0" y="0"/>
                </a:lnTo>
                <a:close/>
              </a:path>
            </a:pathLst>
          </a:custGeom>
          <a:blipFill>
            <a:blip r:embed="rId3">
              <a:alphaModFix amt="24000"/>
            </a:blip>
            <a:stretch>
              <a:fillRect l="0" t="0" r="0" b="0"/>
            </a:stretch>
          </a:blipFill>
          <a:ln cap="sq">
            <a:noFill/>
            <a:prstDash val="solid"/>
            <a:miter/>
          </a:ln>
        </p:spPr>
      </p:sp>
      <p:sp>
        <p:nvSpPr>
          <p:cNvPr name="Freeform 7" id="7"/>
          <p:cNvSpPr/>
          <p:nvPr/>
        </p:nvSpPr>
        <p:spPr>
          <a:xfrm flipH="false" flipV="false" rot="0">
            <a:off x="9789297" y="542925"/>
            <a:ext cx="5075695" cy="10151390"/>
          </a:xfrm>
          <a:custGeom>
            <a:avLst/>
            <a:gdLst/>
            <a:ahLst/>
            <a:cxnLst/>
            <a:rect r="r" b="b" t="t" l="l"/>
            <a:pathLst>
              <a:path h="10151390" w="5075695">
                <a:moveTo>
                  <a:pt x="0" y="0"/>
                </a:moveTo>
                <a:lnTo>
                  <a:pt x="5075695" y="0"/>
                </a:lnTo>
                <a:lnTo>
                  <a:pt x="5075695" y="10151390"/>
                </a:lnTo>
                <a:lnTo>
                  <a:pt x="0" y="10151390"/>
                </a:lnTo>
                <a:lnTo>
                  <a:pt x="0" y="0"/>
                </a:lnTo>
                <a:close/>
              </a:path>
            </a:pathLst>
          </a:custGeom>
          <a:blipFill>
            <a:blip r:embed="rId4">
              <a:alphaModFix amt="24000"/>
            </a:blip>
            <a:stretch>
              <a:fillRect l="0" t="0" r="0" b="0"/>
            </a:stretch>
          </a:blipFill>
          <a:ln cap="sq">
            <a:noFill/>
            <a:prstDash val="solid"/>
            <a:miter/>
          </a:ln>
        </p:spPr>
      </p:sp>
      <p:sp>
        <p:nvSpPr>
          <p:cNvPr name="Freeform 8" id="8"/>
          <p:cNvSpPr/>
          <p:nvPr/>
        </p:nvSpPr>
        <p:spPr>
          <a:xfrm flipH="false" flipV="false" rot="0">
            <a:off x="14081429" y="1315128"/>
            <a:ext cx="3150599" cy="7876497"/>
          </a:xfrm>
          <a:custGeom>
            <a:avLst/>
            <a:gdLst/>
            <a:ahLst/>
            <a:cxnLst/>
            <a:rect r="r" b="b" t="t" l="l"/>
            <a:pathLst>
              <a:path h="7876497" w="3150599">
                <a:moveTo>
                  <a:pt x="0" y="0"/>
                </a:moveTo>
                <a:lnTo>
                  <a:pt x="3150599" y="0"/>
                </a:lnTo>
                <a:lnTo>
                  <a:pt x="3150599" y="7876497"/>
                </a:lnTo>
                <a:lnTo>
                  <a:pt x="0" y="7876497"/>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sp>
        <p:nvSpPr>
          <p:cNvPr name="Freeform 9" id="9"/>
          <p:cNvSpPr/>
          <p:nvPr/>
        </p:nvSpPr>
        <p:spPr>
          <a:xfrm flipH="false" flipV="false" rot="0">
            <a:off x="6810009" y="1315128"/>
            <a:ext cx="3938248" cy="7876497"/>
          </a:xfrm>
          <a:custGeom>
            <a:avLst/>
            <a:gdLst/>
            <a:ahLst/>
            <a:cxnLst/>
            <a:rect r="r" b="b" t="t" l="l"/>
            <a:pathLst>
              <a:path h="7876497" w="3938248">
                <a:moveTo>
                  <a:pt x="0" y="0"/>
                </a:moveTo>
                <a:lnTo>
                  <a:pt x="3938248" y="0"/>
                </a:lnTo>
                <a:lnTo>
                  <a:pt x="3938248" y="7876497"/>
                </a:lnTo>
                <a:lnTo>
                  <a:pt x="0" y="7876497"/>
                </a:lnTo>
                <a:lnTo>
                  <a:pt x="0" y="0"/>
                </a:lnTo>
                <a:close/>
              </a:path>
            </a:pathLst>
          </a:custGeom>
          <a:blipFill>
            <a:blip r:embed="rId7">
              <a:extLst>
                <a:ext uri="{96DAC541-7B7A-43D3-8B79-37D633B846F1}">
                  <asvg:svgBlip xmlns:asvg="http://schemas.microsoft.com/office/drawing/2016/SVG/main" r:embed="rId8"/>
                </a:ext>
              </a:extLst>
            </a:blip>
            <a:stretch>
              <a:fillRect l="0" t="0" r="0" b="0"/>
            </a:stretch>
          </a:blipFill>
        </p:spPr>
      </p:sp>
      <p:sp>
        <p:nvSpPr>
          <p:cNvPr name="Freeform 10" id="10"/>
          <p:cNvSpPr/>
          <p:nvPr/>
        </p:nvSpPr>
        <p:spPr>
          <a:xfrm flipH="false" flipV="false" rot="0">
            <a:off x="10383605" y="1315128"/>
            <a:ext cx="3938248" cy="7876497"/>
          </a:xfrm>
          <a:custGeom>
            <a:avLst/>
            <a:gdLst/>
            <a:ahLst/>
            <a:cxnLst/>
            <a:rect r="r" b="b" t="t" l="l"/>
            <a:pathLst>
              <a:path h="7876497" w="3938248">
                <a:moveTo>
                  <a:pt x="0" y="0"/>
                </a:moveTo>
                <a:lnTo>
                  <a:pt x="3938248" y="0"/>
                </a:lnTo>
                <a:lnTo>
                  <a:pt x="3938248" y="7876497"/>
                </a:lnTo>
                <a:lnTo>
                  <a:pt x="0" y="787649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sp>
      <p:sp>
        <p:nvSpPr>
          <p:cNvPr name="Freeform 11" id="11"/>
          <p:cNvSpPr/>
          <p:nvPr/>
        </p:nvSpPr>
        <p:spPr>
          <a:xfrm flipH="false" flipV="false" rot="0">
            <a:off x="14081429" y="1194728"/>
            <a:ext cx="3150599" cy="7876497"/>
          </a:xfrm>
          <a:custGeom>
            <a:avLst/>
            <a:gdLst/>
            <a:ahLst/>
            <a:cxnLst/>
            <a:rect r="r" b="b" t="t" l="l"/>
            <a:pathLst>
              <a:path h="7876497" w="3150599">
                <a:moveTo>
                  <a:pt x="0" y="0"/>
                </a:moveTo>
                <a:lnTo>
                  <a:pt x="3150599" y="0"/>
                </a:lnTo>
                <a:lnTo>
                  <a:pt x="3150599" y="7876497"/>
                </a:lnTo>
                <a:lnTo>
                  <a:pt x="0" y="7876497"/>
                </a:lnTo>
                <a:lnTo>
                  <a:pt x="0" y="0"/>
                </a:lnTo>
                <a:close/>
              </a:path>
            </a:pathLst>
          </a:custGeom>
          <a:blipFill>
            <a:blip r:embed="rId11">
              <a:extLst>
                <a:ext uri="{96DAC541-7B7A-43D3-8B79-37D633B846F1}">
                  <asvg:svgBlip xmlns:asvg="http://schemas.microsoft.com/office/drawing/2016/SVG/main" r:embed="rId12"/>
                </a:ext>
              </a:extLst>
            </a:blip>
            <a:stretch>
              <a:fillRect l="0" t="0" r="0" b="0"/>
            </a:stretch>
          </a:blipFill>
        </p:spPr>
      </p:sp>
      <p:sp>
        <p:nvSpPr>
          <p:cNvPr name="Freeform 12" id="12"/>
          <p:cNvSpPr/>
          <p:nvPr/>
        </p:nvSpPr>
        <p:spPr>
          <a:xfrm flipH="false" flipV="false" rot="0">
            <a:off x="6810009" y="1194728"/>
            <a:ext cx="3938248" cy="7876497"/>
          </a:xfrm>
          <a:custGeom>
            <a:avLst/>
            <a:gdLst/>
            <a:ahLst/>
            <a:cxnLst/>
            <a:rect r="r" b="b" t="t" l="l"/>
            <a:pathLst>
              <a:path h="7876497" w="3938248">
                <a:moveTo>
                  <a:pt x="0" y="0"/>
                </a:moveTo>
                <a:lnTo>
                  <a:pt x="3938248" y="0"/>
                </a:lnTo>
                <a:lnTo>
                  <a:pt x="3938248" y="7876497"/>
                </a:lnTo>
                <a:lnTo>
                  <a:pt x="0" y="7876497"/>
                </a:lnTo>
                <a:lnTo>
                  <a:pt x="0" y="0"/>
                </a:lnTo>
                <a:close/>
              </a:path>
            </a:pathLst>
          </a:custGeom>
          <a:blipFill>
            <a:blip r:embed="rId13">
              <a:extLst>
                <a:ext uri="{96DAC541-7B7A-43D3-8B79-37D633B846F1}">
                  <asvg:svgBlip xmlns:asvg="http://schemas.microsoft.com/office/drawing/2016/SVG/main" r:embed="rId14"/>
                </a:ext>
              </a:extLst>
            </a:blip>
            <a:stretch>
              <a:fillRect l="0" t="0" r="0" b="0"/>
            </a:stretch>
          </a:blipFill>
        </p:spPr>
      </p:sp>
      <p:sp>
        <p:nvSpPr>
          <p:cNvPr name="Freeform 13" id="13"/>
          <p:cNvSpPr/>
          <p:nvPr/>
        </p:nvSpPr>
        <p:spPr>
          <a:xfrm flipH="false" flipV="false" rot="0">
            <a:off x="10383605" y="1194728"/>
            <a:ext cx="3938248" cy="7876497"/>
          </a:xfrm>
          <a:custGeom>
            <a:avLst/>
            <a:gdLst/>
            <a:ahLst/>
            <a:cxnLst/>
            <a:rect r="r" b="b" t="t" l="l"/>
            <a:pathLst>
              <a:path h="7876497" w="3938248">
                <a:moveTo>
                  <a:pt x="0" y="0"/>
                </a:moveTo>
                <a:lnTo>
                  <a:pt x="3938248" y="0"/>
                </a:lnTo>
                <a:lnTo>
                  <a:pt x="3938248" y="7876497"/>
                </a:lnTo>
                <a:lnTo>
                  <a:pt x="0" y="7876497"/>
                </a:lnTo>
                <a:lnTo>
                  <a:pt x="0" y="0"/>
                </a:lnTo>
                <a:close/>
              </a:path>
            </a:pathLst>
          </a:custGeom>
          <a:blipFill>
            <a:blip r:embed="rId15">
              <a:extLst>
                <a:ext uri="{96DAC541-7B7A-43D3-8B79-37D633B846F1}">
                  <asvg:svgBlip xmlns:asvg="http://schemas.microsoft.com/office/drawing/2016/SVG/main" r:embed="rId16"/>
                </a:ext>
              </a:extLst>
            </a:blip>
            <a:stretch>
              <a:fillRect l="0" t="0" r="0" b="0"/>
            </a:stretch>
          </a:blipFill>
        </p:spPr>
      </p:sp>
      <p:sp>
        <p:nvSpPr>
          <p:cNvPr name="Freeform 14" id="14"/>
          <p:cNvSpPr/>
          <p:nvPr/>
        </p:nvSpPr>
        <p:spPr>
          <a:xfrm flipH="false" flipV="false" rot="0">
            <a:off x="7981150" y="1997303"/>
            <a:ext cx="1162850" cy="1162850"/>
          </a:xfrm>
          <a:custGeom>
            <a:avLst/>
            <a:gdLst/>
            <a:ahLst/>
            <a:cxnLst/>
            <a:rect r="r" b="b" t="t" l="l"/>
            <a:pathLst>
              <a:path h="1162850" w="1162850">
                <a:moveTo>
                  <a:pt x="0" y="0"/>
                </a:moveTo>
                <a:lnTo>
                  <a:pt x="1162850" y="0"/>
                </a:lnTo>
                <a:lnTo>
                  <a:pt x="1162850" y="1162851"/>
                </a:lnTo>
                <a:lnTo>
                  <a:pt x="0" y="1162851"/>
                </a:lnTo>
                <a:lnTo>
                  <a:pt x="0" y="0"/>
                </a:lnTo>
                <a:close/>
              </a:path>
            </a:pathLst>
          </a:custGeom>
          <a:blipFill>
            <a:blip r:embed="rId17">
              <a:extLst>
                <a:ext uri="{96DAC541-7B7A-43D3-8B79-37D633B846F1}">
                  <asvg:svgBlip xmlns:asvg="http://schemas.microsoft.com/office/drawing/2016/SVG/main" r:embed="rId18"/>
                </a:ext>
              </a:extLst>
            </a:blip>
            <a:stretch>
              <a:fillRect l="0" t="0" r="0" b="0"/>
            </a:stretch>
          </a:blipFill>
        </p:spPr>
      </p:sp>
      <p:grpSp>
        <p:nvGrpSpPr>
          <p:cNvPr name="Group 15" id="15"/>
          <p:cNvGrpSpPr/>
          <p:nvPr/>
        </p:nvGrpSpPr>
        <p:grpSpPr>
          <a:xfrm rot="0">
            <a:off x="7578706" y="2556851"/>
            <a:ext cx="1642285" cy="1276677"/>
            <a:chOff x="0" y="0"/>
            <a:chExt cx="264494" cy="205612"/>
          </a:xfrm>
        </p:grpSpPr>
        <p:sp>
          <p:nvSpPr>
            <p:cNvPr name="Freeform 16" id="16"/>
            <p:cNvSpPr/>
            <p:nvPr/>
          </p:nvSpPr>
          <p:spPr>
            <a:xfrm flipH="false" flipV="false" rot="0">
              <a:off x="0" y="0"/>
              <a:ext cx="264494" cy="205612"/>
            </a:xfrm>
            <a:custGeom>
              <a:avLst/>
              <a:gdLst/>
              <a:ahLst/>
              <a:cxnLst/>
              <a:rect r="r" b="b" t="t" l="l"/>
              <a:pathLst>
                <a:path h="205612" w="264494">
                  <a:moveTo>
                    <a:pt x="0" y="0"/>
                  </a:moveTo>
                  <a:lnTo>
                    <a:pt x="264494" y="0"/>
                  </a:lnTo>
                  <a:lnTo>
                    <a:pt x="264494" y="205612"/>
                  </a:lnTo>
                  <a:lnTo>
                    <a:pt x="0" y="205612"/>
                  </a:lnTo>
                  <a:close/>
                </a:path>
              </a:pathLst>
            </a:custGeom>
            <a:gradFill rotWithShape="true">
              <a:gsLst>
                <a:gs pos="0">
                  <a:srgbClr val="FFFFFF">
                    <a:alpha val="0"/>
                  </a:srgbClr>
                </a:gs>
                <a:gs pos="50000">
                  <a:srgbClr val="FCFDFE">
                    <a:alpha val="100000"/>
                  </a:srgbClr>
                </a:gs>
                <a:gs pos="100000">
                  <a:srgbClr val="FCFDFE">
                    <a:alpha val="100000"/>
                  </a:srgbClr>
                </a:gs>
              </a:gsLst>
              <a:lin ang="5400000"/>
            </a:gradFill>
          </p:spPr>
        </p:sp>
        <p:sp>
          <p:nvSpPr>
            <p:cNvPr name="TextBox 17" id="17"/>
            <p:cNvSpPr txBox="true"/>
            <p:nvPr/>
          </p:nvSpPr>
          <p:spPr>
            <a:xfrm>
              <a:off x="0" y="-47625"/>
              <a:ext cx="264494" cy="253237"/>
            </a:xfrm>
            <a:prstGeom prst="rect">
              <a:avLst/>
            </a:prstGeom>
          </p:spPr>
          <p:txBody>
            <a:bodyPr anchor="ctr" rtlCol="false" tIns="50800" lIns="50800" bIns="50800" rIns="50800"/>
            <a:lstStyle/>
            <a:p>
              <a:pPr algn="ctr">
                <a:lnSpc>
                  <a:spcPts val="2488"/>
                </a:lnSpc>
              </a:pPr>
            </a:p>
          </p:txBody>
        </p:sp>
      </p:grpSp>
      <p:sp>
        <p:nvSpPr>
          <p:cNvPr name="Freeform 18" id="18"/>
          <p:cNvSpPr/>
          <p:nvPr/>
        </p:nvSpPr>
        <p:spPr>
          <a:xfrm flipH="false" flipV="false" rot="0">
            <a:off x="11135784" y="1997303"/>
            <a:ext cx="1848136" cy="1025715"/>
          </a:xfrm>
          <a:custGeom>
            <a:avLst/>
            <a:gdLst/>
            <a:ahLst/>
            <a:cxnLst/>
            <a:rect r="r" b="b" t="t" l="l"/>
            <a:pathLst>
              <a:path h="1025715" w="1848136">
                <a:moveTo>
                  <a:pt x="0" y="0"/>
                </a:moveTo>
                <a:lnTo>
                  <a:pt x="1848136" y="0"/>
                </a:lnTo>
                <a:lnTo>
                  <a:pt x="1848136" y="1025716"/>
                </a:lnTo>
                <a:lnTo>
                  <a:pt x="0" y="1025716"/>
                </a:lnTo>
                <a:lnTo>
                  <a:pt x="0" y="0"/>
                </a:lnTo>
                <a:close/>
              </a:path>
            </a:pathLst>
          </a:custGeom>
          <a:blipFill>
            <a:blip r:embed="rId19">
              <a:extLst>
                <a:ext uri="{96DAC541-7B7A-43D3-8B79-37D633B846F1}">
                  <asvg:svgBlip xmlns:asvg="http://schemas.microsoft.com/office/drawing/2016/SVG/main" r:embed="rId20"/>
                </a:ext>
              </a:extLst>
            </a:blip>
            <a:stretch>
              <a:fillRect l="0" t="0" r="0" b="0"/>
            </a:stretch>
          </a:blipFill>
        </p:spPr>
      </p:sp>
      <p:grpSp>
        <p:nvGrpSpPr>
          <p:cNvPr name="Group 19" id="19"/>
          <p:cNvGrpSpPr/>
          <p:nvPr/>
        </p:nvGrpSpPr>
        <p:grpSpPr>
          <a:xfrm rot="0">
            <a:off x="11238709" y="2556851"/>
            <a:ext cx="1642285" cy="1276677"/>
            <a:chOff x="0" y="0"/>
            <a:chExt cx="264494" cy="205612"/>
          </a:xfrm>
        </p:grpSpPr>
        <p:sp>
          <p:nvSpPr>
            <p:cNvPr name="Freeform 20" id="20"/>
            <p:cNvSpPr/>
            <p:nvPr/>
          </p:nvSpPr>
          <p:spPr>
            <a:xfrm flipH="false" flipV="false" rot="0">
              <a:off x="0" y="0"/>
              <a:ext cx="264494" cy="205612"/>
            </a:xfrm>
            <a:custGeom>
              <a:avLst/>
              <a:gdLst/>
              <a:ahLst/>
              <a:cxnLst/>
              <a:rect r="r" b="b" t="t" l="l"/>
              <a:pathLst>
                <a:path h="205612" w="264494">
                  <a:moveTo>
                    <a:pt x="0" y="0"/>
                  </a:moveTo>
                  <a:lnTo>
                    <a:pt x="264494" y="0"/>
                  </a:lnTo>
                  <a:lnTo>
                    <a:pt x="264494" y="205612"/>
                  </a:lnTo>
                  <a:lnTo>
                    <a:pt x="0" y="205612"/>
                  </a:lnTo>
                  <a:close/>
                </a:path>
              </a:pathLst>
            </a:custGeom>
            <a:gradFill rotWithShape="true">
              <a:gsLst>
                <a:gs pos="0">
                  <a:srgbClr val="FFFFFF">
                    <a:alpha val="0"/>
                  </a:srgbClr>
                </a:gs>
                <a:gs pos="50000">
                  <a:srgbClr val="FCFDFE">
                    <a:alpha val="100000"/>
                  </a:srgbClr>
                </a:gs>
                <a:gs pos="100000">
                  <a:srgbClr val="FCFDFE">
                    <a:alpha val="100000"/>
                  </a:srgbClr>
                </a:gs>
              </a:gsLst>
              <a:lin ang="5400000"/>
            </a:gradFill>
          </p:spPr>
        </p:sp>
        <p:sp>
          <p:nvSpPr>
            <p:cNvPr name="TextBox 21" id="21"/>
            <p:cNvSpPr txBox="true"/>
            <p:nvPr/>
          </p:nvSpPr>
          <p:spPr>
            <a:xfrm>
              <a:off x="0" y="-47625"/>
              <a:ext cx="264494" cy="253237"/>
            </a:xfrm>
            <a:prstGeom prst="rect">
              <a:avLst/>
            </a:prstGeom>
          </p:spPr>
          <p:txBody>
            <a:bodyPr anchor="ctr" rtlCol="false" tIns="50800" lIns="50800" bIns="50800" rIns="50800"/>
            <a:lstStyle/>
            <a:p>
              <a:pPr algn="ctr">
                <a:lnSpc>
                  <a:spcPts val="2488"/>
                </a:lnSpc>
              </a:pPr>
            </a:p>
          </p:txBody>
        </p:sp>
      </p:grpSp>
      <p:sp>
        <p:nvSpPr>
          <p:cNvPr name="Freeform 22" id="22"/>
          <p:cNvSpPr/>
          <p:nvPr/>
        </p:nvSpPr>
        <p:spPr>
          <a:xfrm flipH="false" flipV="false" rot="0">
            <a:off x="15218739" y="2107006"/>
            <a:ext cx="1066478" cy="1053147"/>
          </a:xfrm>
          <a:custGeom>
            <a:avLst/>
            <a:gdLst/>
            <a:ahLst/>
            <a:cxnLst/>
            <a:rect r="r" b="b" t="t" l="l"/>
            <a:pathLst>
              <a:path h="1053147" w="1066478">
                <a:moveTo>
                  <a:pt x="0" y="0"/>
                </a:moveTo>
                <a:lnTo>
                  <a:pt x="1066479" y="0"/>
                </a:lnTo>
                <a:lnTo>
                  <a:pt x="1066479" y="1053148"/>
                </a:lnTo>
                <a:lnTo>
                  <a:pt x="0" y="1053148"/>
                </a:lnTo>
                <a:lnTo>
                  <a:pt x="0" y="0"/>
                </a:lnTo>
                <a:close/>
              </a:path>
            </a:pathLst>
          </a:custGeom>
          <a:blipFill>
            <a:blip r:embed="rId21">
              <a:extLst>
                <a:ext uri="{96DAC541-7B7A-43D3-8B79-37D633B846F1}">
                  <asvg:svgBlip xmlns:asvg="http://schemas.microsoft.com/office/drawing/2016/SVG/main" r:embed="rId22"/>
                </a:ext>
              </a:extLst>
            </a:blip>
            <a:stretch>
              <a:fillRect l="0" t="0" r="0" b="0"/>
            </a:stretch>
          </a:blipFill>
        </p:spPr>
      </p:sp>
      <p:grpSp>
        <p:nvGrpSpPr>
          <p:cNvPr name="Group 23" id="23"/>
          <p:cNvGrpSpPr/>
          <p:nvPr/>
        </p:nvGrpSpPr>
        <p:grpSpPr>
          <a:xfrm rot="0">
            <a:off x="14930836" y="2556851"/>
            <a:ext cx="1642285" cy="1276677"/>
            <a:chOff x="0" y="0"/>
            <a:chExt cx="264494" cy="205612"/>
          </a:xfrm>
        </p:grpSpPr>
        <p:sp>
          <p:nvSpPr>
            <p:cNvPr name="Freeform 24" id="24"/>
            <p:cNvSpPr/>
            <p:nvPr/>
          </p:nvSpPr>
          <p:spPr>
            <a:xfrm flipH="false" flipV="false" rot="0">
              <a:off x="0" y="0"/>
              <a:ext cx="264494" cy="205612"/>
            </a:xfrm>
            <a:custGeom>
              <a:avLst/>
              <a:gdLst/>
              <a:ahLst/>
              <a:cxnLst/>
              <a:rect r="r" b="b" t="t" l="l"/>
              <a:pathLst>
                <a:path h="205612" w="264494">
                  <a:moveTo>
                    <a:pt x="0" y="0"/>
                  </a:moveTo>
                  <a:lnTo>
                    <a:pt x="264494" y="0"/>
                  </a:lnTo>
                  <a:lnTo>
                    <a:pt x="264494" y="205612"/>
                  </a:lnTo>
                  <a:lnTo>
                    <a:pt x="0" y="205612"/>
                  </a:lnTo>
                  <a:close/>
                </a:path>
              </a:pathLst>
            </a:custGeom>
            <a:gradFill rotWithShape="true">
              <a:gsLst>
                <a:gs pos="0">
                  <a:srgbClr val="FFFFFF">
                    <a:alpha val="0"/>
                  </a:srgbClr>
                </a:gs>
                <a:gs pos="50000">
                  <a:srgbClr val="FCFDFE">
                    <a:alpha val="100000"/>
                  </a:srgbClr>
                </a:gs>
                <a:gs pos="100000">
                  <a:srgbClr val="FCFDFE">
                    <a:alpha val="100000"/>
                  </a:srgbClr>
                </a:gs>
              </a:gsLst>
              <a:lin ang="5400000"/>
            </a:gradFill>
          </p:spPr>
        </p:sp>
        <p:sp>
          <p:nvSpPr>
            <p:cNvPr name="TextBox 25" id="25"/>
            <p:cNvSpPr txBox="true"/>
            <p:nvPr/>
          </p:nvSpPr>
          <p:spPr>
            <a:xfrm>
              <a:off x="0" y="-47625"/>
              <a:ext cx="264494" cy="253237"/>
            </a:xfrm>
            <a:prstGeom prst="rect">
              <a:avLst/>
            </a:prstGeom>
          </p:spPr>
          <p:txBody>
            <a:bodyPr anchor="ctr" rtlCol="false" tIns="50800" lIns="50800" bIns="50800" rIns="50800"/>
            <a:lstStyle/>
            <a:p>
              <a:pPr algn="ctr">
                <a:lnSpc>
                  <a:spcPts val="2488"/>
                </a:lnSpc>
              </a:pPr>
            </a:p>
          </p:txBody>
        </p:sp>
      </p:grpSp>
      <p:sp>
        <p:nvSpPr>
          <p:cNvPr name="TextBox 26" id="26"/>
          <p:cNvSpPr txBox="true"/>
          <p:nvPr/>
        </p:nvSpPr>
        <p:spPr>
          <a:xfrm rot="0">
            <a:off x="1311692" y="3204714"/>
            <a:ext cx="4343400" cy="761167"/>
          </a:xfrm>
          <a:prstGeom prst="rect">
            <a:avLst/>
          </a:prstGeom>
        </p:spPr>
        <p:txBody>
          <a:bodyPr anchor="t" rtlCol="false" tIns="0" lIns="0" bIns="0" rIns="0">
            <a:spAutoFit/>
          </a:bodyPr>
          <a:lstStyle/>
          <a:p>
            <a:pPr algn="l">
              <a:lnSpc>
                <a:spcPts val="5976"/>
              </a:lnSpc>
            </a:pPr>
            <a:r>
              <a:rPr lang="en-US" sz="5099" b="true">
                <a:solidFill>
                  <a:srgbClr val="041F60"/>
                </a:solidFill>
                <a:latin typeface="Gotham Bold"/>
                <a:ea typeface="Gotham Bold"/>
                <a:cs typeface="Gotham Bold"/>
                <a:sym typeface="Gotham Bold"/>
              </a:rPr>
              <a:t>R2 Score</a:t>
            </a:r>
          </a:p>
        </p:txBody>
      </p:sp>
      <p:sp>
        <p:nvSpPr>
          <p:cNvPr name="TextBox 27" id="27"/>
          <p:cNvSpPr txBox="true"/>
          <p:nvPr/>
        </p:nvSpPr>
        <p:spPr>
          <a:xfrm rot="0">
            <a:off x="1311692" y="4104534"/>
            <a:ext cx="4343400" cy="1934845"/>
          </a:xfrm>
          <a:prstGeom prst="rect">
            <a:avLst/>
          </a:prstGeom>
        </p:spPr>
        <p:txBody>
          <a:bodyPr anchor="t" rtlCol="false" tIns="0" lIns="0" bIns="0" rIns="0">
            <a:spAutoFit/>
          </a:bodyPr>
          <a:lstStyle/>
          <a:p>
            <a:pPr algn="l">
              <a:lnSpc>
                <a:spcPts val="3079"/>
              </a:lnSpc>
              <a:spcBef>
                <a:spcPct val="0"/>
              </a:spcBef>
            </a:pPr>
            <a:r>
              <a:rPr lang="en-US" sz="2199">
                <a:solidFill>
                  <a:srgbClr val="000000"/>
                </a:solidFill>
                <a:latin typeface="Canva Sans"/>
                <a:ea typeface="Canva Sans"/>
                <a:cs typeface="Canva Sans"/>
                <a:sym typeface="Canva Sans"/>
              </a:rPr>
              <a:t>R²</a:t>
            </a:r>
            <a:r>
              <a:rPr lang="en-US" sz="2199">
                <a:solidFill>
                  <a:srgbClr val="000000"/>
                </a:solidFill>
                <a:latin typeface="Canva Sans"/>
                <a:ea typeface="Canva Sans"/>
                <a:cs typeface="Canva Sans"/>
                <a:sym typeface="Canva Sans"/>
              </a:rPr>
              <a:t> score (coefficient of determination) measures how well a regression model explains the</a:t>
            </a:r>
            <a:r>
              <a:rPr lang="en-US" sz="2199">
                <a:solidFill>
                  <a:srgbClr val="000000"/>
                </a:solidFill>
                <a:latin typeface="Canva Sans"/>
                <a:ea typeface="Canva Sans"/>
                <a:cs typeface="Canva Sans"/>
                <a:sym typeface="Canva Sans"/>
              </a:rPr>
              <a:t> variability of the target variable.</a:t>
            </a:r>
          </a:p>
        </p:txBody>
      </p:sp>
      <p:sp>
        <p:nvSpPr>
          <p:cNvPr name="TextBox 28" id="28"/>
          <p:cNvSpPr txBox="true"/>
          <p:nvPr/>
        </p:nvSpPr>
        <p:spPr>
          <a:xfrm rot="0">
            <a:off x="10727553" y="6401964"/>
            <a:ext cx="2664597" cy="2081022"/>
          </a:xfrm>
          <a:prstGeom prst="rect">
            <a:avLst/>
          </a:prstGeom>
        </p:spPr>
        <p:txBody>
          <a:bodyPr anchor="t" rtlCol="false" tIns="0" lIns="0" bIns="0" rIns="0">
            <a:spAutoFit/>
          </a:bodyPr>
          <a:lstStyle/>
          <a:p>
            <a:pPr algn="ctr">
              <a:lnSpc>
                <a:spcPts val="2798"/>
              </a:lnSpc>
            </a:pPr>
            <a:r>
              <a:rPr lang="en-US" sz="1799">
                <a:solidFill>
                  <a:srgbClr val="000000"/>
                </a:solidFill>
                <a:latin typeface="Canva Sans"/>
                <a:ea typeface="Canva Sans"/>
                <a:cs typeface="Canva Sans"/>
                <a:sym typeface="Canva Sans"/>
              </a:rPr>
              <a:t>Rando</a:t>
            </a:r>
            <a:r>
              <a:rPr lang="en-US" sz="1799">
                <a:solidFill>
                  <a:srgbClr val="000000"/>
                </a:solidFill>
                <a:latin typeface="Canva Sans"/>
                <a:ea typeface="Canva Sans"/>
                <a:cs typeface="Canva Sans"/>
                <a:sym typeface="Canva Sans"/>
              </a:rPr>
              <a:t>m Forest has the highest R² (~0.888), indicating the best fit and strongest predictive performance among the models.</a:t>
            </a:r>
          </a:p>
        </p:txBody>
      </p:sp>
      <p:sp>
        <p:nvSpPr>
          <p:cNvPr name="TextBox 29" id="29"/>
          <p:cNvSpPr txBox="true"/>
          <p:nvPr/>
        </p:nvSpPr>
        <p:spPr>
          <a:xfrm rot="0">
            <a:off x="7067550" y="6401964"/>
            <a:ext cx="2664597" cy="2081022"/>
          </a:xfrm>
          <a:prstGeom prst="rect">
            <a:avLst/>
          </a:prstGeom>
        </p:spPr>
        <p:txBody>
          <a:bodyPr anchor="t" rtlCol="false" tIns="0" lIns="0" bIns="0" rIns="0">
            <a:spAutoFit/>
          </a:bodyPr>
          <a:lstStyle/>
          <a:p>
            <a:pPr algn="ctr">
              <a:lnSpc>
                <a:spcPts val="2798"/>
              </a:lnSpc>
            </a:pPr>
            <a:r>
              <a:rPr lang="en-US" sz="1799">
                <a:solidFill>
                  <a:srgbClr val="000000"/>
                </a:solidFill>
                <a:latin typeface="Canva Sans"/>
                <a:ea typeface="Canva Sans"/>
                <a:cs typeface="Canva Sans"/>
                <a:sym typeface="Canva Sans"/>
              </a:rPr>
              <a:t>Lin</a:t>
            </a:r>
            <a:r>
              <a:rPr lang="en-US" sz="1799">
                <a:solidFill>
                  <a:srgbClr val="000000"/>
                </a:solidFill>
                <a:latin typeface="Canva Sans"/>
                <a:ea typeface="Canva Sans"/>
                <a:cs typeface="Canva Sans"/>
                <a:sym typeface="Canva Sans"/>
              </a:rPr>
              <a:t>ear Regression performs well with an R² of ~0.823, capturing a large portion of the variance but less than Random Forest.</a:t>
            </a:r>
          </a:p>
        </p:txBody>
      </p:sp>
      <p:sp>
        <p:nvSpPr>
          <p:cNvPr name="TextBox 30" id="30"/>
          <p:cNvSpPr txBox="true"/>
          <p:nvPr/>
        </p:nvSpPr>
        <p:spPr>
          <a:xfrm rot="0">
            <a:off x="7067550" y="4932786"/>
            <a:ext cx="2664597" cy="421428"/>
          </a:xfrm>
          <a:prstGeom prst="rect">
            <a:avLst/>
          </a:prstGeom>
        </p:spPr>
        <p:txBody>
          <a:bodyPr anchor="t" rtlCol="false" tIns="0" lIns="0" bIns="0" rIns="0">
            <a:spAutoFit/>
          </a:bodyPr>
          <a:lstStyle/>
          <a:p>
            <a:pPr algn="ctr">
              <a:lnSpc>
                <a:spcPts val="3266"/>
              </a:lnSpc>
            </a:pPr>
            <a:r>
              <a:rPr lang="en-US" sz="2799">
                <a:solidFill>
                  <a:srgbClr val="041F60"/>
                </a:solidFill>
                <a:latin typeface="Gotham"/>
                <a:ea typeface="Gotham"/>
                <a:cs typeface="Gotham"/>
                <a:sym typeface="Gotham"/>
              </a:rPr>
              <a:t>01</a:t>
            </a:r>
          </a:p>
        </p:txBody>
      </p:sp>
      <p:sp>
        <p:nvSpPr>
          <p:cNvPr name="TextBox 31" id="31"/>
          <p:cNvSpPr txBox="true"/>
          <p:nvPr/>
        </p:nvSpPr>
        <p:spPr>
          <a:xfrm rot="0">
            <a:off x="10727553" y="4932786"/>
            <a:ext cx="2664597" cy="421428"/>
          </a:xfrm>
          <a:prstGeom prst="rect">
            <a:avLst/>
          </a:prstGeom>
        </p:spPr>
        <p:txBody>
          <a:bodyPr anchor="t" rtlCol="false" tIns="0" lIns="0" bIns="0" rIns="0">
            <a:spAutoFit/>
          </a:bodyPr>
          <a:lstStyle/>
          <a:p>
            <a:pPr algn="ctr">
              <a:lnSpc>
                <a:spcPts val="3266"/>
              </a:lnSpc>
            </a:pPr>
            <a:r>
              <a:rPr lang="en-US" sz="2799">
                <a:solidFill>
                  <a:srgbClr val="041F60"/>
                </a:solidFill>
                <a:latin typeface="Gotham"/>
                <a:ea typeface="Gotham"/>
                <a:cs typeface="Gotham"/>
                <a:sym typeface="Gotham"/>
              </a:rPr>
              <a:t>02</a:t>
            </a:r>
          </a:p>
        </p:txBody>
      </p:sp>
      <p:sp>
        <p:nvSpPr>
          <p:cNvPr name="TextBox 32" id="32"/>
          <p:cNvSpPr txBox="true"/>
          <p:nvPr/>
        </p:nvSpPr>
        <p:spPr>
          <a:xfrm rot="0">
            <a:off x="7067550" y="3424238"/>
            <a:ext cx="2664597" cy="715010"/>
          </a:xfrm>
          <a:prstGeom prst="rect">
            <a:avLst/>
          </a:prstGeom>
        </p:spPr>
        <p:txBody>
          <a:bodyPr anchor="t" rtlCol="false" tIns="0" lIns="0" bIns="0" rIns="0">
            <a:spAutoFit/>
          </a:bodyPr>
          <a:lstStyle/>
          <a:p>
            <a:pPr algn="ctr">
              <a:lnSpc>
                <a:spcPts val="2800"/>
              </a:lnSpc>
            </a:pPr>
            <a:r>
              <a:rPr lang="en-US" sz="2400" b="true">
                <a:solidFill>
                  <a:srgbClr val="041F60"/>
                </a:solidFill>
                <a:latin typeface="Gotham Bold"/>
                <a:ea typeface="Gotham Bold"/>
                <a:cs typeface="Gotham Bold"/>
                <a:sym typeface="Gotham Bold"/>
              </a:rPr>
              <a:t>Linear Regression</a:t>
            </a:r>
          </a:p>
        </p:txBody>
      </p:sp>
      <p:sp>
        <p:nvSpPr>
          <p:cNvPr name="TextBox 33" id="33"/>
          <p:cNvSpPr txBox="true"/>
          <p:nvPr/>
        </p:nvSpPr>
        <p:spPr>
          <a:xfrm rot="0">
            <a:off x="10727553" y="3433763"/>
            <a:ext cx="2664597" cy="705587"/>
          </a:xfrm>
          <a:prstGeom prst="rect">
            <a:avLst/>
          </a:prstGeom>
        </p:spPr>
        <p:txBody>
          <a:bodyPr anchor="t" rtlCol="false" tIns="0" lIns="0" bIns="0" rIns="0">
            <a:spAutoFit/>
          </a:bodyPr>
          <a:lstStyle/>
          <a:p>
            <a:pPr algn="ctr">
              <a:lnSpc>
                <a:spcPts val="2798"/>
              </a:lnSpc>
            </a:pPr>
            <a:r>
              <a:rPr lang="en-US" sz="2400" b="true">
                <a:solidFill>
                  <a:srgbClr val="041F60"/>
                </a:solidFill>
                <a:latin typeface="Gotham Bold"/>
                <a:ea typeface="Gotham Bold"/>
                <a:cs typeface="Gotham Bold"/>
                <a:sym typeface="Gotham Bold"/>
              </a:rPr>
              <a:t>Random </a:t>
            </a:r>
          </a:p>
          <a:p>
            <a:pPr algn="ctr">
              <a:lnSpc>
                <a:spcPts val="2800"/>
              </a:lnSpc>
            </a:pPr>
            <a:r>
              <a:rPr lang="en-US" sz="2400" b="true">
                <a:solidFill>
                  <a:srgbClr val="041F60"/>
                </a:solidFill>
                <a:latin typeface="Gotham Bold"/>
                <a:ea typeface="Gotham Bold"/>
                <a:cs typeface="Gotham Bold"/>
                <a:sym typeface="Gotham Bold"/>
              </a:rPr>
              <a:t>Forest</a:t>
            </a:r>
          </a:p>
        </p:txBody>
      </p:sp>
      <p:sp>
        <p:nvSpPr>
          <p:cNvPr name="TextBox 34" id="34"/>
          <p:cNvSpPr txBox="true"/>
          <p:nvPr/>
        </p:nvSpPr>
        <p:spPr>
          <a:xfrm rot="0">
            <a:off x="14419680" y="6401964"/>
            <a:ext cx="2664597" cy="1728597"/>
          </a:xfrm>
          <a:prstGeom prst="rect">
            <a:avLst/>
          </a:prstGeom>
        </p:spPr>
        <p:txBody>
          <a:bodyPr anchor="t" rtlCol="false" tIns="0" lIns="0" bIns="0" rIns="0">
            <a:spAutoFit/>
          </a:bodyPr>
          <a:lstStyle/>
          <a:p>
            <a:pPr algn="ctr">
              <a:lnSpc>
                <a:spcPts val="2798"/>
              </a:lnSpc>
            </a:pPr>
            <a:r>
              <a:rPr lang="en-US" sz="1799">
                <a:solidFill>
                  <a:srgbClr val="000000"/>
                </a:solidFill>
                <a:latin typeface="Canva Sans"/>
                <a:ea typeface="Canva Sans"/>
                <a:cs typeface="Canva Sans"/>
                <a:sym typeface="Canva Sans"/>
              </a:rPr>
              <a:t>Polynomi</a:t>
            </a:r>
            <a:r>
              <a:rPr lang="en-US" sz="1799">
                <a:solidFill>
                  <a:srgbClr val="000000"/>
                </a:solidFill>
                <a:latin typeface="Canva Sans"/>
                <a:ea typeface="Canva Sans"/>
                <a:cs typeface="Canva Sans"/>
                <a:sym typeface="Canva Sans"/>
              </a:rPr>
              <a:t>al Regression has a much lower R² (~0.533), suggesting poor fit and weaker predictive ability.</a:t>
            </a:r>
          </a:p>
        </p:txBody>
      </p:sp>
      <p:sp>
        <p:nvSpPr>
          <p:cNvPr name="TextBox 35" id="35"/>
          <p:cNvSpPr txBox="true"/>
          <p:nvPr/>
        </p:nvSpPr>
        <p:spPr>
          <a:xfrm rot="0">
            <a:off x="14419680" y="4932786"/>
            <a:ext cx="2664597" cy="421428"/>
          </a:xfrm>
          <a:prstGeom prst="rect">
            <a:avLst/>
          </a:prstGeom>
        </p:spPr>
        <p:txBody>
          <a:bodyPr anchor="t" rtlCol="false" tIns="0" lIns="0" bIns="0" rIns="0">
            <a:spAutoFit/>
          </a:bodyPr>
          <a:lstStyle/>
          <a:p>
            <a:pPr algn="ctr">
              <a:lnSpc>
                <a:spcPts val="3266"/>
              </a:lnSpc>
            </a:pPr>
            <a:r>
              <a:rPr lang="en-US" sz="2799">
                <a:solidFill>
                  <a:srgbClr val="041F60"/>
                </a:solidFill>
                <a:latin typeface="Gotham"/>
                <a:ea typeface="Gotham"/>
                <a:cs typeface="Gotham"/>
                <a:sym typeface="Gotham"/>
              </a:rPr>
              <a:t>03</a:t>
            </a:r>
          </a:p>
        </p:txBody>
      </p:sp>
      <p:sp>
        <p:nvSpPr>
          <p:cNvPr name="TextBox 36" id="36"/>
          <p:cNvSpPr txBox="true"/>
          <p:nvPr/>
        </p:nvSpPr>
        <p:spPr>
          <a:xfrm rot="0">
            <a:off x="14419680" y="3424238"/>
            <a:ext cx="2664597" cy="715010"/>
          </a:xfrm>
          <a:prstGeom prst="rect">
            <a:avLst/>
          </a:prstGeom>
        </p:spPr>
        <p:txBody>
          <a:bodyPr anchor="t" rtlCol="false" tIns="0" lIns="0" bIns="0" rIns="0">
            <a:spAutoFit/>
          </a:bodyPr>
          <a:lstStyle/>
          <a:p>
            <a:pPr algn="ctr">
              <a:lnSpc>
                <a:spcPts val="2800"/>
              </a:lnSpc>
            </a:pPr>
            <a:r>
              <a:rPr lang="en-US" sz="2400" b="true">
                <a:solidFill>
                  <a:srgbClr val="041F60"/>
                </a:solidFill>
                <a:latin typeface="Gotham Bold"/>
                <a:ea typeface="Gotham Bold"/>
                <a:cs typeface="Gotham Bold"/>
                <a:sym typeface="Gotham Bold"/>
              </a:rPr>
              <a:t>Polynomial Regression</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3F4FA"/>
        </a:solidFill>
      </p:bgPr>
    </p:bg>
    <p:spTree>
      <p:nvGrpSpPr>
        <p:cNvPr id="1" name=""/>
        <p:cNvGrpSpPr/>
        <p:nvPr/>
      </p:nvGrpSpPr>
      <p:grpSpPr>
        <a:xfrm>
          <a:off x="0" y="0"/>
          <a:ext cx="0" cy="0"/>
          <a:chOff x="0" y="0"/>
          <a:chExt cx="0" cy="0"/>
        </a:xfrm>
      </p:grpSpPr>
      <p:sp>
        <p:nvSpPr>
          <p:cNvPr name="TextBox 2" id="2"/>
          <p:cNvSpPr txBox="true"/>
          <p:nvPr/>
        </p:nvSpPr>
        <p:spPr>
          <a:xfrm rot="0">
            <a:off x="1413358" y="2585246"/>
            <a:ext cx="11881282" cy="5104512"/>
          </a:xfrm>
          <a:prstGeom prst="rect">
            <a:avLst/>
          </a:prstGeom>
        </p:spPr>
        <p:txBody>
          <a:bodyPr anchor="t" rtlCol="false" tIns="0" lIns="0" bIns="0" rIns="0">
            <a:spAutoFit/>
          </a:bodyPr>
          <a:lstStyle/>
          <a:p>
            <a:pPr algn="l">
              <a:lnSpc>
                <a:spcPts val="4116"/>
              </a:lnSpc>
            </a:pPr>
            <a:r>
              <a:rPr lang="en-US" sz="2299" spc="108">
                <a:solidFill>
                  <a:srgbClr val="000000"/>
                </a:solidFill>
                <a:latin typeface="Canva Sans"/>
                <a:ea typeface="Canva Sans"/>
                <a:cs typeface="Canva Sans"/>
                <a:sym typeface="Canva Sans"/>
              </a:rPr>
              <a:t>✅ Accurate price prediction (to a good extent):</a:t>
            </a:r>
          </a:p>
          <a:p>
            <a:pPr algn="l">
              <a:lnSpc>
                <a:spcPts val="4116"/>
              </a:lnSpc>
            </a:pPr>
            <a:r>
              <a:rPr lang="en-US" sz="2299" spc="108">
                <a:solidFill>
                  <a:srgbClr val="000000"/>
                </a:solidFill>
                <a:latin typeface="Canva Sans"/>
                <a:ea typeface="Canva Sans"/>
                <a:cs typeface="Canva Sans"/>
                <a:sym typeface="Canva Sans"/>
              </a:rPr>
              <a:t> Using Polynomial Regression, your model captures the curved relationship between GrLivArea and SalePrice, giving better predictions than a simple linear model.</a:t>
            </a:r>
          </a:p>
          <a:p>
            <a:pPr algn="l">
              <a:lnSpc>
                <a:spcPts val="4116"/>
              </a:lnSpc>
            </a:pPr>
            <a:r>
              <a:rPr lang="en-US" sz="2299" spc="108">
                <a:solidFill>
                  <a:srgbClr val="000000"/>
                </a:solidFill>
                <a:latin typeface="Canva Sans"/>
                <a:ea typeface="Canva Sans"/>
                <a:cs typeface="Canva Sans"/>
                <a:sym typeface="Canva Sans"/>
              </a:rPr>
              <a:t>📈 Better understanding of data behavior:</a:t>
            </a:r>
          </a:p>
          <a:p>
            <a:pPr algn="l">
              <a:lnSpc>
                <a:spcPts val="4116"/>
              </a:lnSpc>
            </a:pPr>
            <a:r>
              <a:rPr lang="en-US" sz="2299" spc="108">
                <a:solidFill>
                  <a:srgbClr val="000000"/>
                </a:solidFill>
                <a:latin typeface="Canva Sans"/>
                <a:ea typeface="Canva Sans"/>
                <a:cs typeface="Canva Sans"/>
                <a:sym typeface="Canva Sans"/>
              </a:rPr>
              <a:t> You discovered that house prices don’t increase linearly—they grow faster after a certain size.</a:t>
            </a:r>
          </a:p>
          <a:p>
            <a:pPr algn="l">
              <a:lnSpc>
                <a:spcPts val="4116"/>
              </a:lnSpc>
            </a:pPr>
            <a:r>
              <a:rPr lang="en-US" sz="2299" spc="108">
                <a:solidFill>
                  <a:srgbClr val="000000"/>
                </a:solidFill>
                <a:latin typeface="Canva Sans"/>
                <a:ea typeface="Canva Sans"/>
                <a:cs typeface="Canva Sans"/>
                <a:sym typeface="Canva Sans"/>
              </a:rPr>
              <a:t>📊 Improved model performance:</a:t>
            </a:r>
          </a:p>
          <a:p>
            <a:pPr algn="l">
              <a:lnSpc>
                <a:spcPts val="4116"/>
              </a:lnSpc>
            </a:pPr>
            <a:r>
              <a:rPr lang="en-US" sz="2299" spc="108">
                <a:solidFill>
                  <a:srgbClr val="000000"/>
                </a:solidFill>
                <a:latin typeface="Canva Sans"/>
                <a:ea typeface="Canva Sans"/>
                <a:cs typeface="Canva Sans"/>
                <a:sym typeface="Canva Sans"/>
              </a:rPr>
              <a:t> Compared to linear regression, your model likely shows a higher R² score and better fit on the graph.</a:t>
            </a:r>
          </a:p>
        </p:txBody>
      </p:sp>
      <p:sp>
        <p:nvSpPr>
          <p:cNvPr name="Freeform 3" id="3"/>
          <p:cNvSpPr/>
          <p:nvPr/>
        </p:nvSpPr>
        <p:spPr>
          <a:xfrm flipH="false" flipV="false" rot="0">
            <a:off x="13466531" y="3146777"/>
            <a:ext cx="4114800" cy="4114800"/>
          </a:xfrm>
          <a:custGeom>
            <a:avLst/>
            <a:gdLst/>
            <a:ahLst/>
            <a:cxnLst/>
            <a:rect r="r" b="b" t="t" l="l"/>
            <a:pathLst>
              <a:path h="4114800" w="4114800">
                <a:moveTo>
                  <a:pt x="0" y="0"/>
                </a:moveTo>
                <a:lnTo>
                  <a:pt x="4114800" y="0"/>
                </a:lnTo>
                <a:lnTo>
                  <a:pt x="4114800" y="4114800"/>
                </a:lnTo>
                <a:lnTo>
                  <a:pt x="0" y="4114800"/>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4" id="4"/>
          <p:cNvSpPr txBox="true"/>
          <p:nvPr/>
        </p:nvSpPr>
        <p:spPr>
          <a:xfrm rot="0">
            <a:off x="-2041170" y="1424101"/>
            <a:ext cx="12637850" cy="721995"/>
          </a:xfrm>
          <a:prstGeom prst="rect">
            <a:avLst/>
          </a:prstGeom>
        </p:spPr>
        <p:txBody>
          <a:bodyPr anchor="t" rtlCol="false" tIns="0" lIns="0" bIns="0" rIns="0">
            <a:spAutoFit/>
          </a:bodyPr>
          <a:lstStyle/>
          <a:p>
            <a:pPr algn="ctr">
              <a:lnSpc>
                <a:spcPts val="5625"/>
              </a:lnSpc>
            </a:pPr>
            <a:r>
              <a:rPr lang="en-US" sz="4800" b="true">
                <a:solidFill>
                  <a:srgbClr val="041F60"/>
                </a:solidFill>
                <a:latin typeface="Gotham Bold"/>
                <a:ea typeface="Gotham Bold"/>
                <a:cs typeface="Gotham Bold"/>
                <a:sym typeface="Gotham Bold"/>
              </a:rPr>
              <a:t>Outcome of Model</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3F4FA"/>
        </a:solidFill>
      </p:bgPr>
    </p:bg>
    <p:spTree>
      <p:nvGrpSpPr>
        <p:cNvPr id="1" name=""/>
        <p:cNvGrpSpPr/>
        <p:nvPr/>
      </p:nvGrpSpPr>
      <p:grpSpPr>
        <a:xfrm>
          <a:off x="0" y="0"/>
          <a:ext cx="0" cy="0"/>
          <a:chOff x="0" y="0"/>
          <a:chExt cx="0" cy="0"/>
        </a:xfrm>
      </p:grpSpPr>
      <p:sp>
        <p:nvSpPr>
          <p:cNvPr name="Freeform 2" id="2"/>
          <p:cNvSpPr/>
          <p:nvPr/>
        </p:nvSpPr>
        <p:spPr>
          <a:xfrm flipH="false" flipV="false" rot="0">
            <a:off x="1864248" y="3106198"/>
            <a:ext cx="8317977" cy="3285601"/>
          </a:xfrm>
          <a:custGeom>
            <a:avLst/>
            <a:gdLst/>
            <a:ahLst/>
            <a:cxnLst/>
            <a:rect r="r" b="b" t="t" l="l"/>
            <a:pathLst>
              <a:path h="3285601" w="8317977">
                <a:moveTo>
                  <a:pt x="0" y="0"/>
                </a:moveTo>
                <a:lnTo>
                  <a:pt x="8317977" y="0"/>
                </a:lnTo>
                <a:lnTo>
                  <a:pt x="8317977" y="3285601"/>
                </a:lnTo>
                <a:lnTo>
                  <a:pt x="0" y="3285601"/>
                </a:lnTo>
                <a:lnTo>
                  <a:pt x="0" y="0"/>
                </a:lnTo>
                <a:close/>
              </a:path>
            </a:pathLst>
          </a:custGeom>
          <a:blipFill>
            <a:blip r:embed="rId2">
              <a:alphaModFix amt="24000"/>
            </a:blip>
            <a:stretch>
              <a:fillRect l="0" t="0" r="0" b="0"/>
            </a:stretch>
          </a:blipFill>
        </p:spPr>
      </p:sp>
      <p:grpSp>
        <p:nvGrpSpPr>
          <p:cNvPr name="Group 3" id="3"/>
          <p:cNvGrpSpPr/>
          <p:nvPr/>
        </p:nvGrpSpPr>
        <p:grpSpPr>
          <a:xfrm rot="0">
            <a:off x="3272287" y="3276911"/>
            <a:ext cx="5501898" cy="2381250"/>
            <a:chOff x="0" y="0"/>
            <a:chExt cx="2888979" cy="1250365"/>
          </a:xfrm>
        </p:grpSpPr>
        <p:sp>
          <p:nvSpPr>
            <p:cNvPr name="Freeform 4" id="4"/>
            <p:cNvSpPr/>
            <p:nvPr/>
          </p:nvSpPr>
          <p:spPr>
            <a:xfrm flipH="false" flipV="false" rot="0">
              <a:off x="0" y="0"/>
              <a:ext cx="2888979" cy="1250365"/>
            </a:xfrm>
            <a:custGeom>
              <a:avLst/>
              <a:gdLst/>
              <a:ahLst/>
              <a:cxnLst/>
              <a:rect r="r" b="b" t="t" l="l"/>
              <a:pathLst>
                <a:path h="1250365" w="2888979">
                  <a:moveTo>
                    <a:pt x="39400" y="0"/>
                  </a:moveTo>
                  <a:lnTo>
                    <a:pt x="2849579" y="0"/>
                  </a:lnTo>
                  <a:cubicBezTo>
                    <a:pt x="2860028" y="0"/>
                    <a:pt x="2870050" y="4151"/>
                    <a:pt x="2877439" y="11540"/>
                  </a:cubicBezTo>
                  <a:cubicBezTo>
                    <a:pt x="2884828" y="18929"/>
                    <a:pt x="2888979" y="28950"/>
                    <a:pt x="2888979" y="39400"/>
                  </a:cubicBezTo>
                  <a:lnTo>
                    <a:pt x="2888979" y="1210965"/>
                  </a:lnTo>
                  <a:cubicBezTo>
                    <a:pt x="2888979" y="1221415"/>
                    <a:pt x="2884828" y="1231436"/>
                    <a:pt x="2877439" y="1238825"/>
                  </a:cubicBezTo>
                  <a:cubicBezTo>
                    <a:pt x="2870050" y="1246214"/>
                    <a:pt x="2860028" y="1250365"/>
                    <a:pt x="2849579" y="1250365"/>
                  </a:cubicBezTo>
                  <a:lnTo>
                    <a:pt x="39400" y="1250365"/>
                  </a:lnTo>
                  <a:cubicBezTo>
                    <a:pt x="28950" y="1250365"/>
                    <a:pt x="18929" y="1246214"/>
                    <a:pt x="11540" y="1238825"/>
                  </a:cubicBezTo>
                  <a:cubicBezTo>
                    <a:pt x="4151" y="1231436"/>
                    <a:pt x="0" y="1221415"/>
                    <a:pt x="0" y="1210965"/>
                  </a:cubicBezTo>
                  <a:lnTo>
                    <a:pt x="0" y="39400"/>
                  </a:lnTo>
                  <a:cubicBezTo>
                    <a:pt x="0" y="28950"/>
                    <a:pt x="4151" y="18929"/>
                    <a:pt x="11540" y="11540"/>
                  </a:cubicBezTo>
                  <a:cubicBezTo>
                    <a:pt x="18929" y="4151"/>
                    <a:pt x="28950" y="0"/>
                    <a:pt x="39400" y="0"/>
                  </a:cubicBezTo>
                  <a:close/>
                </a:path>
              </a:pathLst>
            </a:custGeom>
            <a:solidFill>
              <a:srgbClr val="E9EBF4"/>
            </a:solidFill>
          </p:spPr>
        </p:sp>
        <p:sp>
          <p:nvSpPr>
            <p:cNvPr name="TextBox 5" id="5"/>
            <p:cNvSpPr txBox="true"/>
            <p:nvPr/>
          </p:nvSpPr>
          <p:spPr>
            <a:xfrm>
              <a:off x="0" y="-47625"/>
              <a:ext cx="2888979" cy="1297990"/>
            </a:xfrm>
            <a:prstGeom prst="rect">
              <a:avLst/>
            </a:prstGeom>
          </p:spPr>
          <p:txBody>
            <a:bodyPr anchor="ctr" rtlCol="false" tIns="50800" lIns="50800" bIns="50800" rIns="50800"/>
            <a:lstStyle/>
            <a:p>
              <a:pPr algn="ctr">
                <a:lnSpc>
                  <a:spcPts val="2488"/>
                </a:lnSpc>
              </a:pPr>
            </a:p>
          </p:txBody>
        </p:sp>
      </p:grpSp>
      <p:grpSp>
        <p:nvGrpSpPr>
          <p:cNvPr name="Group 6" id="6"/>
          <p:cNvGrpSpPr/>
          <p:nvPr/>
        </p:nvGrpSpPr>
        <p:grpSpPr>
          <a:xfrm rot="0">
            <a:off x="3272287" y="3186354"/>
            <a:ext cx="5501898" cy="2381250"/>
            <a:chOff x="0" y="0"/>
            <a:chExt cx="2888979" cy="1250365"/>
          </a:xfrm>
        </p:grpSpPr>
        <p:sp>
          <p:nvSpPr>
            <p:cNvPr name="Freeform 7" id="7"/>
            <p:cNvSpPr/>
            <p:nvPr/>
          </p:nvSpPr>
          <p:spPr>
            <a:xfrm flipH="false" flipV="false" rot="0">
              <a:off x="0" y="0"/>
              <a:ext cx="2888979" cy="1250365"/>
            </a:xfrm>
            <a:custGeom>
              <a:avLst/>
              <a:gdLst/>
              <a:ahLst/>
              <a:cxnLst/>
              <a:rect r="r" b="b" t="t" l="l"/>
              <a:pathLst>
                <a:path h="1250365" w="2888979">
                  <a:moveTo>
                    <a:pt x="39400" y="0"/>
                  </a:moveTo>
                  <a:lnTo>
                    <a:pt x="2849579" y="0"/>
                  </a:lnTo>
                  <a:cubicBezTo>
                    <a:pt x="2860028" y="0"/>
                    <a:pt x="2870050" y="4151"/>
                    <a:pt x="2877439" y="11540"/>
                  </a:cubicBezTo>
                  <a:cubicBezTo>
                    <a:pt x="2884828" y="18929"/>
                    <a:pt x="2888979" y="28950"/>
                    <a:pt x="2888979" y="39400"/>
                  </a:cubicBezTo>
                  <a:lnTo>
                    <a:pt x="2888979" y="1210965"/>
                  </a:lnTo>
                  <a:cubicBezTo>
                    <a:pt x="2888979" y="1221415"/>
                    <a:pt x="2884828" y="1231436"/>
                    <a:pt x="2877439" y="1238825"/>
                  </a:cubicBezTo>
                  <a:cubicBezTo>
                    <a:pt x="2870050" y="1246214"/>
                    <a:pt x="2860028" y="1250365"/>
                    <a:pt x="2849579" y="1250365"/>
                  </a:cubicBezTo>
                  <a:lnTo>
                    <a:pt x="39400" y="1250365"/>
                  </a:lnTo>
                  <a:cubicBezTo>
                    <a:pt x="28950" y="1250365"/>
                    <a:pt x="18929" y="1246214"/>
                    <a:pt x="11540" y="1238825"/>
                  </a:cubicBezTo>
                  <a:cubicBezTo>
                    <a:pt x="4151" y="1231436"/>
                    <a:pt x="0" y="1221415"/>
                    <a:pt x="0" y="1210965"/>
                  </a:cubicBezTo>
                  <a:lnTo>
                    <a:pt x="0" y="39400"/>
                  </a:lnTo>
                  <a:cubicBezTo>
                    <a:pt x="0" y="28950"/>
                    <a:pt x="4151" y="18929"/>
                    <a:pt x="11540" y="11540"/>
                  </a:cubicBezTo>
                  <a:cubicBezTo>
                    <a:pt x="18929" y="4151"/>
                    <a:pt x="28950" y="0"/>
                    <a:pt x="39400" y="0"/>
                  </a:cubicBezTo>
                  <a:close/>
                </a:path>
              </a:pathLst>
            </a:custGeom>
            <a:solidFill>
              <a:srgbClr val="FCFDFE"/>
            </a:solidFill>
          </p:spPr>
        </p:sp>
        <p:sp>
          <p:nvSpPr>
            <p:cNvPr name="TextBox 8" id="8"/>
            <p:cNvSpPr txBox="true"/>
            <p:nvPr/>
          </p:nvSpPr>
          <p:spPr>
            <a:xfrm>
              <a:off x="0" y="-47625"/>
              <a:ext cx="2888979" cy="1297990"/>
            </a:xfrm>
            <a:prstGeom prst="rect">
              <a:avLst/>
            </a:prstGeom>
          </p:spPr>
          <p:txBody>
            <a:bodyPr anchor="ctr" rtlCol="false" tIns="50800" lIns="50800" bIns="50800" rIns="50800"/>
            <a:lstStyle/>
            <a:p>
              <a:pPr algn="ctr">
                <a:lnSpc>
                  <a:spcPts val="2488"/>
                </a:lnSpc>
              </a:pPr>
            </a:p>
          </p:txBody>
        </p:sp>
      </p:grpSp>
      <p:sp>
        <p:nvSpPr>
          <p:cNvPr name="TextBox 9" id="9"/>
          <p:cNvSpPr txBox="true"/>
          <p:nvPr/>
        </p:nvSpPr>
        <p:spPr>
          <a:xfrm rot="0">
            <a:off x="3579890" y="3488868"/>
            <a:ext cx="4895850" cy="1728597"/>
          </a:xfrm>
          <a:prstGeom prst="rect">
            <a:avLst/>
          </a:prstGeom>
        </p:spPr>
        <p:txBody>
          <a:bodyPr anchor="t" rtlCol="false" tIns="0" lIns="0" bIns="0" rIns="0">
            <a:spAutoFit/>
          </a:bodyPr>
          <a:lstStyle/>
          <a:p>
            <a:pPr algn="l">
              <a:lnSpc>
                <a:spcPts val="2798"/>
              </a:lnSpc>
            </a:pPr>
            <a:r>
              <a:rPr lang="en-US" sz="1799" b="true">
                <a:solidFill>
                  <a:srgbClr val="000000"/>
                </a:solidFill>
                <a:latin typeface="Canva Sans Bold"/>
                <a:ea typeface="Canva Sans Bold"/>
                <a:cs typeface="Canva Sans Bold"/>
                <a:sym typeface="Canva Sans Bold"/>
              </a:rPr>
              <a:t>Linear Regression:</a:t>
            </a:r>
            <a:r>
              <a:rPr lang="en-US" sz="1799">
                <a:solidFill>
                  <a:srgbClr val="000000"/>
                </a:solidFill>
                <a:latin typeface="Canva Sans"/>
                <a:ea typeface="Canva Sans"/>
                <a:cs typeface="Canva Sans"/>
                <a:sym typeface="Canva Sans"/>
              </a:rPr>
              <a:t> Best for simple, straight-line re</a:t>
            </a:r>
            <a:r>
              <a:rPr lang="en-US" sz="1799">
                <a:solidFill>
                  <a:srgbClr val="000000"/>
                </a:solidFill>
                <a:latin typeface="Canva Sans"/>
                <a:ea typeface="Canva Sans"/>
                <a:cs typeface="Canva Sans"/>
                <a:sym typeface="Canva Sans"/>
              </a:rPr>
              <a:t>lationships between variables. It’s easy to interpret and works well when the trend is roughly linear, but struggles with complex patterns.</a:t>
            </a:r>
          </a:p>
        </p:txBody>
      </p:sp>
      <p:sp>
        <p:nvSpPr>
          <p:cNvPr name="Freeform 10" id="10"/>
          <p:cNvSpPr/>
          <p:nvPr/>
        </p:nvSpPr>
        <p:spPr>
          <a:xfrm flipH="false" flipV="false" rot="0">
            <a:off x="1864248" y="6391799"/>
            <a:ext cx="8317977" cy="3285601"/>
          </a:xfrm>
          <a:custGeom>
            <a:avLst/>
            <a:gdLst/>
            <a:ahLst/>
            <a:cxnLst/>
            <a:rect r="r" b="b" t="t" l="l"/>
            <a:pathLst>
              <a:path h="3285601" w="8317977">
                <a:moveTo>
                  <a:pt x="0" y="0"/>
                </a:moveTo>
                <a:lnTo>
                  <a:pt x="8317977" y="0"/>
                </a:lnTo>
                <a:lnTo>
                  <a:pt x="8317977" y="3285601"/>
                </a:lnTo>
                <a:lnTo>
                  <a:pt x="0" y="3285601"/>
                </a:lnTo>
                <a:lnTo>
                  <a:pt x="0" y="0"/>
                </a:lnTo>
                <a:close/>
              </a:path>
            </a:pathLst>
          </a:custGeom>
          <a:blipFill>
            <a:blip r:embed="rId2">
              <a:alphaModFix amt="24000"/>
            </a:blip>
            <a:stretch>
              <a:fillRect l="0" t="0" r="0" b="0"/>
            </a:stretch>
          </a:blipFill>
        </p:spPr>
      </p:sp>
      <p:grpSp>
        <p:nvGrpSpPr>
          <p:cNvPr name="Group 11" id="11"/>
          <p:cNvGrpSpPr/>
          <p:nvPr/>
        </p:nvGrpSpPr>
        <p:grpSpPr>
          <a:xfrm rot="0">
            <a:off x="3272287" y="6562512"/>
            <a:ext cx="5501898" cy="2381250"/>
            <a:chOff x="0" y="0"/>
            <a:chExt cx="2888979" cy="1250365"/>
          </a:xfrm>
        </p:grpSpPr>
        <p:sp>
          <p:nvSpPr>
            <p:cNvPr name="Freeform 12" id="12"/>
            <p:cNvSpPr/>
            <p:nvPr/>
          </p:nvSpPr>
          <p:spPr>
            <a:xfrm flipH="false" flipV="false" rot="0">
              <a:off x="0" y="0"/>
              <a:ext cx="2888979" cy="1250365"/>
            </a:xfrm>
            <a:custGeom>
              <a:avLst/>
              <a:gdLst/>
              <a:ahLst/>
              <a:cxnLst/>
              <a:rect r="r" b="b" t="t" l="l"/>
              <a:pathLst>
                <a:path h="1250365" w="2888979">
                  <a:moveTo>
                    <a:pt x="39400" y="0"/>
                  </a:moveTo>
                  <a:lnTo>
                    <a:pt x="2849579" y="0"/>
                  </a:lnTo>
                  <a:cubicBezTo>
                    <a:pt x="2860028" y="0"/>
                    <a:pt x="2870050" y="4151"/>
                    <a:pt x="2877439" y="11540"/>
                  </a:cubicBezTo>
                  <a:cubicBezTo>
                    <a:pt x="2884828" y="18929"/>
                    <a:pt x="2888979" y="28950"/>
                    <a:pt x="2888979" y="39400"/>
                  </a:cubicBezTo>
                  <a:lnTo>
                    <a:pt x="2888979" y="1210965"/>
                  </a:lnTo>
                  <a:cubicBezTo>
                    <a:pt x="2888979" y="1221415"/>
                    <a:pt x="2884828" y="1231436"/>
                    <a:pt x="2877439" y="1238825"/>
                  </a:cubicBezTo>
                  <a:cubicBezTo>
                    <a:pt x="2870050" y="1246214"/>
                    <a:pt x="2860028" y="1250365"/>
                    <a:pt x="2849579" y="1250365"/>
                  </a:cubicBezTo>
                  <a:lnTo>
                    <a:pt x="39400" y="1250365"/>
                  </a:lnTo>
                  <a:cubicBezTo>
                    <a:pt x="28950" y="1250365"/>
                    <a:pt x="18929" y="1246214"/>
                    <a:pt x="11540" y="1238825"/>
                  </a:cubicBezTo>
                  <a:cubicBezTo>
                    <a:pt x="4151" y="1231436"/>
                    <a:pt x="0" y="1221415"/>
                    <a:pt x="0" y="1210965"/>
                  </a:cubicBezTo>
                  <a:lnTo>
                    <a:pt x="0" y="39400"/>
                  </a:lnTo>
                  <a:cubicBezTo>
                    <a:pt x="0" y="28950"/>
                    <a:pt x="4151" y="18929"/>
                    <a:pt x="11540" y="11540"/>
                  </a:cubicBezTo>
                  <a:cubicBezTo>
                    <a:pt x="18929" y="4151"/>
                    <a:pt x="28950" y="0"/>
                    <a:pt x="39400" y="0"/>
                  </a:cubicBezTo>
                  <a:close/>
                </a:path>
              </a:pathLst>
            </a:custGeom>
            <a:solidFill>
              <a:srgbClr val="E9EBF4"/>
            </a:solidFill>
          </p:spPr>
        </p:sp>
        <p:sp>
          <p:nvSpPr>
            <p:cNvPr name="TextBox 13" id="13"/>
            <p:cNvSpPr txBox="true"/>
            <p:nvPr/>
          </p:nvSpPr>
          <p:spPr>
            <a:xfrm>
              <a:off x="0" y="-47625"/>
              <a:ext cx="2888979" cy="1297990"/>
            </a:xfrm>
            <a:prstGeom prst="rect">
              <a:avLst/>
            </a:prstGeom>
          </p:spPr>
          <p:txBody>
            <a:bodyPr anchor="ctr" rtlCol="false" tIns="50800" lIns="50800" bIns="50800" rIns="50800"/>
            <a:lstStyle/>
            <a:p>
              <a:pPr algn="ctr">
                <a:lnSpc>
                  <a:spcPts val="2488"/>
                </a:lnSpc>
              </a:pPr>
            </a:p>
          </p:txBody>
        </p:sp>
      </p:grpSp>
      <p:grpSp>
        <p:nvGrpSpPr>
          <p:cNvPr name="Group 14" id="14"/>
          <p:cNvGrpSpPr/>
          <p:nvPr/>
        </p:nvGrpSpPr>
        <p:grpSpPr>
          <a:xfrm rot="0">
            <a:off x="3272287" y="6471955"/>
            <a:ext cx="5501898" cy="2381250"/>
            <a:chOff x="0" y="0"/>
            <a:chExt cx="2888979" cy="1250365"/>
          </a:xfrm>
        </p:grpSpPr>
        <p:sp>
          <p:nvSpPr>
            <p:cNvPr name="Freeform 15" id="15"/>
            <p:cNvSpPr/>
            <p:nvPr/>
          </p:nvSpPr>
          <p:spPr>
            <a:xfrm flipH="false" flipV="false" rot="0">
              <a:off x="0" y="0"/>
              <a:ext cx="2888979" cy="1250365"/>
            </a:xfrm>
            <a:custGeom>
              <a:avLst/>
              <a:gdLst/>
              <a:ahLst/>
              <a:cxnLst/>
              <a:rect r="r" b="b" t="t" l="l"/>
              <a:pathLst>
                <a:path h="1250365" w="2888979">
                  <a:moveTo>
                    <a:pt x="39400" y="0"/>
                  </a:moveTo>
                  <a:lnTo>
                    <a:pt x="2849579" y="0"/>
                  </a:lnTo>
                  <a:cubicBezTo>
                    <a:pt x="2860028" y="0"/>
                    <a:pt x="2870050" y="4151"/>
                    <a:pt x="2877439" y="11540"/>
                  </a:cubicBezTo>
                  <a:cubicBezTo>
                    <a:pt x="2884828" y="18929"/>
                    <a:pt x="2888979" y="28950"/>
                    <a:pt x="2888979" y="39400"/>
                  </a:cubicBezTo>
                  <a:lnTo>
                    <a:pt x="2888979" y="1210965"/>
                  </a:lnTo>
                  <a:cubicBezTo>
                    <a:pt x="2888979" y="1221415"/>
                    <a:pt x="2884828" y="1231436"/>
                    <a:pt x="2877439" y="1238825"/>
                  </a:cubicBezTo>
                  <a:cubicBezTo>
                    <a:pt x="2870050" y="1246214"/>
                    <a:pt x="2860028" y="1250365"/>
                    <a:pt x="2849579" y="1250365"/>
                  </a:cubicBezTo>
                  <a:lnTo>
                    <a:pt x="39400" y="1250365"/>
                  </a:lnTo>
                  <a:cubicBezTo>
                    <a:pt x="28950" y="1250365"/>
                    <a:pt x="18929" y="1246214"/>
                    <a:pt x="11540" y="1238825"/>
                  </a:cubicBezTo>
                  <a:cubicBezTo>
                    <a:pt x="4151" y="1231436"/>
                    <a:pt x="0" y="1221415"/>
                    <a:pt x="0" y="1210965"/>
                  </a:cubicBezTo>
                  <a:lnTo>
                    <a:pt x="0" y="39400"/>
                  </a:lnTo>
                  <a:cubicBezTo>
                    <a:pt x="0" y="28950"/>
                    <a:pt x="4151" y="18929"/>
                    <a:pt x="11540" y="11540"/>
                  </a:cubicBezTo>
                  <a:cubicBezTo>
                    <a:pt x="18929" y="4151"/>
                    <a:pt x="28950" y="0"/>
                    <a:pt x="39400" y="0"/>
                  </a:cubicBezTo>
                  <a:close/>
                </a:path>
              </a:pathLst>
            </a:custGeom>
            <a:solidFill>
              <a:srgbClr val="FCFDFE"/>
            </a:solidFill>
          </p:spPr>
        </p:sp>
        <p:sp>
          <p:nvSpPr>
            <p:cNvPr name="TextBox 16" id="16"/>
            <p:cNvSpPr txBox="true"/>
            <p:nvPr/>
          </p:nvSpPr>
          <p:spPr>
            <a:xfrm>
              <a:off x="0" y="-47625"/>
              <a:ext cx="2888979" cy="1297990"/>
            </a:xfrm>
            <a:prstGeom prst="rect">
              <a:avLst/>
            </a:prstGeom>
          </p:spPr>
          <p:txBody>
            <a:bodyPr anchor="ctr" rtlCol="false" tIns="50800" lIns="50800" bIns="50800" rIns="50800"/>
            <a:lstStyle/>
            <a:p>
              <a:pPr algn="ctr">
                <a:lnSpc>
                  <a:spcPts val="2488"/>
                </a:lnSpc>
              </a:pPr>
            </a:p>
          </p:txBody>
        </p:sp>
      </p:grpSp>
      <p:sp>
        <p:nvSpPr>
          <p:cNvPr name="Freeform 17" id="17"/>
          <p:cNvSpPr/>
          <p:nvPr/>
        </p:nvSpPr>
        <p:spPr>
          <a:xfrm flipH="false" flipV="false" rot="0">
            <a:off x="8105775" y="3106198"/>
            <a:ext cx="8317977" cy="3285601"/>
          </a:xfrm>
          <a:custGeom>
            <a:avLst/>
            <a:gdLst/>
            <a:ahLst/>
            <a:cxnLst/>
            <a:rect r="r" b="b" t="t" l="l"/>
            <a:pathLst>
              <a:path h="3285601" w="8317977">
                <a:moveTo>
                  <a:pt x="0" y="0"/>
                </a:moveTo>
                <a:lnTo>
                  <a:pt x="8317977" y="0"/>
                </a:lnTo>
                <a:lnTo>
                  <a:pt x="8317977" y="3285601"/>
                </a:lnTo>
                <a:lnTo>
                  <a:pt x="0" y="3285601"/>
                </a:lnTo>
                <a:lnTo>
                  <a:pt x="0" y="0"/>
                </a:lnTo>
                <a:close/>
              </a:path>
            </a:pathLst>
          </a:custGeom>
          <a:blipFill>
            <a:blip r:embed="rId2">
              <a:alphaModFix amt="24000"/>
            </a:blip>
            <a:stretch>
              <a:fillRect l="0" t="0" r="0" b="0"/>
            </a:stretch>
          </a:blipFill>
        </p:spPr>
      </p:sp>
      <p:grpSp>
        <p:nvGrpSpPr>
          <p:cNvPr name="Group 18" id="18"/>
          <p:cNvGrpSpPr/>
          <p:nvPr/>
        </p:nvGrpSpPr>
        <p:grpSpPr>
          <a:xfrm rot="0">
            <a:off x="9513815" y="3276911"/>
            <a:ext cx="5501898" cy="2381250"/>
            <a:chOff x="0" y="0"/>
            <a:chExt cx="2888979" cy="1250365"/>
          </a:xfrm>
        </p:grpSpPr>
        <p:sp>
          <p:nvSpPr>
            <p:cNvPr name="Freeform 19" id="19"/>
            <p:cNvSpPr/>
            <p:nvPr/>
          </p:nvSpPr>
          <p:spPr>
            <a:xfrm flipH="false" flipV="false" rot="0">
              <a:off x="0" y="0"/>
              <a:ext cx="2888979" cy="1250365"/>
            </a:xfrm>
            <a:custGeom>
              <a:avLst/>
              <a:gdLst/>
              <a:ahLst/>
              <a:cxnLst/>
              <a:rect r="r" b="b" t="t" l="l"/>
              <a:pathLst>
                <a:path h="1250365" w="2888979">
                  <a:moveTo>
                    <a:pt x="39400" y="0"/>
                  </a:moveTo>
                  <a:lnTo>
                    <a:pt x="2849579" y="0"/>
                  </a:lnTo>
                  <a:cubicBezTo>
                    <a:pt x="2860028" y="0"/>
                    <a:pt x="2870050" y="4151"/>
                    <a:pt x="2877439" y="11540"/>
                  </a:cubicBezTo>
                  <a:cubicBezTo>
                    <a:pt x="2884828" y="18929"/>
                    <a:pt x="2888979" y="28950"/>
                    <a:pt x="2888979" y="39400"/>
                  </a:cubicBezTo>
                  <a:lnTo>
                    <a:pt x="2888979" y="1210965"/>
                  </a:lnTo>
                  <a:cubicBezTo>
                    <a:pt x="2888979" y="1221415"/>
                    <a:pt x="2884828" y="1231436"/>
                    <a:pt x="2877439" y="1238825"/>
                  </a:cubicBezTo>
                  <a:cubicBezTo>
                    <a:pt x="2870050" y="1246214"/>
                    <a:pt x="2860028" y="1250365"/>
                    <a:pt x="2849579" y="1250365"/>
                  </a:cubicBezTo>
                  <a:lnTo>
                    <a:pt x="39400" y="1250365"/>
                  </a:lnTo>
                  <a:cubicBezTo>
                    <a:pt x="28950" y="1250365"/>
                    <a:pt x="18929" y="1246214"/>
                    <a:pt x="11540" y="1238825"/>
                  </a:cubicBezTo>
                  <a:cubicBezTo>
                    <a:pt x="4151" y="1231436"/>
                    <a:pt x="0" y="1221415"/>
                    <a:pt x="0" y="1210965"/>
                  </a:cubicBezTo>
                  <a:lnTo>
                    <a:pt x="0" y="39400"/>
                  </a:lnTo>
                  <a:cubicBezTo>
                    <a:pt x="0" y="28950"/>
                    <a:pt x="4151" y="18929"/>
                    <a:pt x="11540" y="11540"/>
                  </a:cubicBezTo>
                  <a:cubicBezTo>
                    <a:pt x="18929" y="4151"/>
                    <a:pt x="28950" y="0"/>
                    <a:pt x="39400" y="0"/>
                  </a:cubicBezTo>
                  <a:close/>
                </a:path>
              </a:pathLst>
            </a:custGeom>
            <a:solidFill>
              <a:srgbClr val="E9EBF4"/>
            </a:solidFill>
          </p:spPr>
        </p:sp>
        <p:sp>
          <p:nvSpPr>
            <p:cNvPr name="TextBox 20" id="20"/>
            <p:cNvSpPr txBox="true"/>
            <p:nvPr/>
          </p:nvSpPr>
          <p:spPr>
            <a:xfrm>
              <a:off x="0" y="-47625"/>
              <a:ext cx="2888979" cy="1297990"/>
            </a:xfrm>
            <a:prstGeom prst="rect">
              <a:avLst/>
            </a:prstGeom>
          </p:spPr>
          <p:txBody>
            <a:bodyPr anchor="ctr" rtlCol="false" tIns="50800" lIns="50800" bIns="50800" rIns="50800"/>
            <a:lstStyle/>
            <a:p>
              <a:pPr algn="ctr">
                <a:lnSpc>
                  <a:spcPts val="2488"/>
                </a:lnSpc>
              </a:pPr>
            </a:p>
          </p:txBody>
        </p:sp>
      </p:grpSp>
      <p:grpSp>
        <p:nvGrpSpPr>
          <p:cNvPr name="Group 21" id="21"/>
          <p:cNvGrpSpPr/>
          <p:nvPr/>
        </p:nvGrpSpPr>
        <p:grpSpPr>
          <a:xfrm rot="0">
            <a:off x="9513815" y="3186354"/>
            <a:ext cx="5501898" cy="2381250"/>
            <a:chOff x="0" y="0"/>
            <a:chExt cx="2888979" cy="1250365"/>
          </a:xfrm>
        </p:grpSpPr>
        <p:sp>
          <p:nvSpPr>
            <p:cNvPr name="Freeform 22" id="22"/>
            <p:cNvSpPr/>
            <p:nvPr/>
          </p:nvSpPr>
          <p:spPr>
            <a:xfrm flipH="false" flipV="false" rot="0">
              <a:off x="0" y="0"/>
              <a:ext cx="2888979" cy="1250365"/>
            </a:xfrm>
            <a:custGeom>
              <a:avLst/>
              <a:gdLst/>
              <a:ahLst/>
              <a:cxnLst/>
              <a:rect r="r" b="b" t="t" l="l"/>
              <a:pathLst>
                <a:path h="1250365" w="2888979">
                  <a:moveTo>
                    <a:pt x="39400" y="0"/>
                  </a:moveTo>
                  <a:lnTo>
                    <a:pt x="2849579" y="0"/>
                  </a:lnTo>
                  <a:cubicBezTo>
                    <a:pt x="2860028" y="0"/>
                    <a:pt x="2870050" y="4151"/>
                    <a:pt x="2877439" y="11540"/>
                  </a:cubicBezTo>
                  <a:cubicBezTo>
                    <a:pt x="2884828" y="18929"/>
                    <a:pt x="2888979" y="28950"/>
                    <a:pt x="2888979" y="39400"/>
                  </a:cubicBezTo>
                  <a:lnTo>
                    <a:pt x="2888979" y="1210965"/>
                  </a:lnTo>
                  <a:cubicBezTo>
                    <a:pt x="2888979" y="1221415"/>
                    <a:pt x="2884828" y="1231436"/>
                    <a:pt x="2877439" y="1238825"/>
                  </a:cubicBezTo>
                  <a:cubicBezTo>
                    <a:pt x="2870050" y="1246214"/>
                    <a:pt x="2860028" y="1250365"/>
                    <a:pt x="2849579" y="1250365"/>
                  </a:cubicBezTo>
                  <a:lnTo>
                    <a:pt x="39400" y="1250365"/>
                  </a:lnTo>
                  <a:cubicBezTo>
                    <a:pt x="28950" y="1250365"/>
                    <a:pt x="18929" y="1246214"/>
                    <a:pt x="11540" y="1238825"/>
                  </a:cubicBezTo>
                  <a:cubicBezTo>
                    <a:pt x="4151" y="1231436"/>
                    <a:pt x="0" y="1221415"/>
                    <a:pt x="0" y="1210965"/>
                  </a:cubicBezTo>
                  <a:lnTo>
                    <a:pt x="0" y="39400"/>
                  </a:lnTo>
                  <a:cubicBezTo>
                    <a:pt x="0" y="28950"/>
                    <a:pt x="4151" y="18929"/>
                    <a:pt x="11540" y="11540"/>
                  </a:cubicBezTo>
                  <a:cubicBezTo>
                    <a:pt x="18929" y="4151"/>
                    <a:pt x="28950" y="0"/>
                    <a:pt x="39400" y="0"/>
                  </a:cubicBezTo>
                  <a:close/>
                </a:path>
              </a:pathLst>
            </a:custGeom>
            <a:solidFill>
              <a:srgbClr val="FCFDFE"/>
            </a:solidFill>
          </p:spPr>
        </p:sp>
        <p:sp>
          <p:nvSpPr>
            <p:cNvPr name="TextBox 23" id="23"/>
            <p:cNvSpPr txBox="true"/>
            <p:nvPr/>
          </p:nvSpPr>
          <p:spPr>
            <a:xfrm>
              <a:off x="0" y="-47625"/>
              <a:ext cx="2888979" cy="1297990"/>
            </a:xfrm>
            <a:prstGeom prst="rect">
              <a:avLst/>
            </a:prstGeom>
          </p:spPr>
          <p:txBody>
            <a:bodyPr anchor="ctr" rtlCol="false" tIns="50800" lIns="50800" bIns="50800" rIns="50800"/>
            <a:lstStyle/>
            <a:p>
              <a:pPr algn="ctr">
                <a:lnSpc>
                  <a:spcPts val="2488"/>
                </a:lnSpc>
              </a:pPr>
            </a:p>
          </p:txBody>
        </p:sp>
      </p:grpSp>
      <p:sp>
        <p:nvSpPr>
          <p:cNvPr name="Freeform 24" id="24"/>
          <p:cNvSpPr/>
          <p:nvPr/>
        </p:nvSpPr>
        <p:spPr>
          <a:xfrm flipH="false" flipV="false" rot="0">
            <a:off x="8105775" y="6391799"/>
            <a:ext cx="8317977" cy="3285601"/>
          </a:xfrm>
          <a:custGeom>
            <a:avLst/>
            <a:gdLst/>
            <a:ahLst/>
            <a:cxnLst/>
            <a:rect r="r" b="b" t="t" l="l"/>
            <a:pathLst>
              <a:path h="3285601" w="8317977">
                <a:moveTo>
                  <a:pt x="0" y="0"/>
                </a:moveTo>
                <a:lnTo>
                  <a:pt x="8317977" y="0"/>
                </a:lnTo>
                <a:lnTo>
                  <a:pt x="8317977" y="3285601"/>
                </a:lnTo>
                <a:lnTo>
                  <a:pt x="0" y="3285601"/>
                </a:lnTo>
                <a:lnTo>
                  <a:pt x="0" y="0"/>
                </a:lnTo>
                <a:close/>
              </a:path>
            </a:pathLst>
          </a:custGeom>
          <a:blipFill>
            <a:blip r:embed="rId2">
              <a:alphaModFix amt="24000"/>
            </a:blip>
            <a:stretch>
              <a:fillRect l="0" t="0" r="0" b="0"/>
            </a:stretch>
          </a:blipFill>
        </p:spPr>
      </p:sp>
      <p:grpSp>
        <p:nvGrpSpPr>
          <p:cNvPr name="Group 25" id="25"/>
          <p:cNvGrpSpPr/>
          <p:nvPr/>
        </p:nvGrpSpPr>
        <p:grpSpPr>
          <a:xfrm rot="0">
            <a:off x="9513815" y="6562512"/>
            <a:ext cx="5501898" cy="2381250"/>
            <a:chOff x="0" y="0"/>
            <a:chExt cx="2888979" cy="1250365"/>
          </a:xfrm>
        </p:grpSpPr>
        <p:sp>
          <p:nvSpPr>
            <p:cNvPr name="Freeform 26" id="26"/>
            <p:cNvSpPr/>
            <p:nvPr/>
          </p:nvSpPr>
          <p:spPr>
            <a:xfrm flipH="false" flipV="false" rot="0">
              <a:off x="0" y="0"/>
              <a:ext cx="2888979" cy="1250365"/>
            </a:xfrm>
            <a:custGeom>
              <a:avLst/>
              <a:gdLst/>
              <a:ahLst/>
              <a:cxnLst/>
              <a:rect r="r" b="b" t="t" l="l"/>
              <a:pathLst>
                <a:path h="1250365" w="2888979">
                  <a:moveTo>
                    <a:pt x="39400" y="0"/>
                  </a:moveTo>
                  <a:lnTo>
                    <a:pt x="2849579" y="0"/>
                  </a:lnTo>
                  <a:cubicBezTo>
                    <a:pt x="2860028" y="0"/>
                    <a:pt x="2870050" y="4151"/>
                    <a:pt x="2877439" y="11540"/>
                  </a:cubicBezTo>
                  <a:cubicBezTo>
                    <a:pt x="2884828" y="18929"/>
                    <a:pt x="2888979" y="28950"/>
                    <a:pt x="2888979" y="39400"/>
                  </a:cubicBezTo>
                  <a:lnTo>
                    <a:pt x="2888979" y="1210965"/>
                  </a:lnTo>
                  <a:cubicBezTo>
                    <a:pt x="2888979" y="1221415"/>
                    <a:pt x="2884828" y="1231436"/>
                    <a:pt x="2877439" y="1238825"/>
                  </a:cubicBezTo>
                  <a:cubicBezTo>
                    <a:pt x="2870050" y="1246214"/>
                    <a:pt x="2860028" y="1250365"/>
                    <a:pt x="2849579" y="1250365"/>
                  </a:cubicBezTo>
                  <a:lnTo>
                    <a:pt x="39400" y="1250365"/>
                  </a:lnTo>
                  <a:cubicBezTo>
                    <a:pt x="28950" y="1250365"/>
                    <a:pt x="18929" y="1246214"/>
                    <a:pt x="11540" y="1238825"/>
                  </a:cubicBezTo>
                  <a:cubicBezTo>
                    <a:pt x="4151" y="1231436"/>
                    <a:pt x="0" y="1221415"/>
                    <a:pt x="0" y="1210965"/>
                  </a:cubicBezTo>
                  <a:lnTo>
                    <a:pt x="0" y="39400"/>
                  </a:lnTo>
                  <a:cubicBezTo>
                    <a:pt x="0" y="28950"/>
                    <a:pt x="4151" y="18929"/>
                    <a:pt x="11540" y="11540"/>
                  </a:cubicBezTo>
                  <a:cubicBezTo>
                    <a:pt x="18929" y="4151"/>
                    <a:pt x="28950" y="0"/>
                    <a:pt x="39400" y="0"/>
                  </a:cubicBezTo>
                  <a:close/>
                </a:path>
              </a:pathLst>
            </a:custGeom>
            <a:solidFill>
              <a:srgbClr val="E9EBF4"/>
            </a:solidFill>
          </p:spPr>
        </p:sp>
        <p:sp>
          <p:nvSpPr>
            <p:cNvPr name="TextBox 27" id="27"/>
            <p:cNvSpPr txBox="true"/>
            <p:nvPr/>
          </p:nvSpPr>
          <p:spPr>
            <a:xfrm>
              <a:off x="0" y="-47625"/>
              <a:ext cx="2888979" cy="1297990"/>
            </a:xfrm>
            <a:prstGeom prst="rect">
              <a:avLst/>
            </a:prstGeom>
          </p:spPr>
          <p:txBody>
            <a:bodyPr anchor="ctr" rtlCol="false" tIns="50800" lIns="50800" bIns="50800" rIns="50800"/>
            <a:lstStyle/>
            <a:p>
              <a:pPr algn="ctr">
                <a:lnSpc>
                  <a:spcPts val="2488"/>
                </a:lnSpc>
              </a:pPr>
            </a:p>
          </p:txBody>
        </p:sp>
      </p:grpSp>
      <p:grpSp>
        <p:nvGrpSpPr>
          <p:cNvPr name="Group 28" id="28"/>
          <p:cNvGrpSpPr/>
          <p:nvPr/>
        </p:nvGrpSpPr>
        <p:grpSpPr>
          <a:xfrm rot="0">
            <a:off x="9513815" y="6471955"/>
            <a:ext cx="5501898" cy="2381250"/>
            <a:chOff x="0" y="0"/>
            <a:chExt cx="2888979" cy="1250365"/>
          </a:xfrm>
        </p:grpSpPr>
        <p:sp>
          <p:nvSpPr>
            <p:cNvPr name="Freeform 29" id="29"/>
            <p:cNvSpPr/>
            <p:nvPr/>
          </p:nvSpPr>
          <p:spPr>
            <a:xfrm flipH="false" flipV="false" rot="0">
              <a:off x="0" y="0"/>
              <a:ext cx="2888979" cy="1250365"/>
            </a:xfrm>
            <a:custGeom>
              <a:avLst/>
              <a:gdLst/>
              <a:ahLst/>
              <a:cxnLst/>
              <a:rect r="r" b="b" t="t" l="l"/>
              <a:pathLst>
                <a:path h="1250365" w="2888979">
                  <a:moveTo>
                    <a:pt x="39400" y="0"/>
                  </a:moveTo>
                  <a:lnTo>
                    <a:pt x="2849579" y="0"/>
                  </a:lnTo>
                  <a:cubicBezTo>
                    <a:pt x="2860028" y="0"/>
                    <a:pt x="2870050" y="4151"/>
                    <a:pt x="2877439" y="11540"/>
                  </a:cubicBezTo>
                  <a:cubicBezTo>
                    <a:pt x="2884828" y="18929"/>
                    <a:pt x="2888979" y="28950"/>
                    <a:pt x="2888979" y="39400"/>
                  </a:cubicBezTo>
                  <a:lnTo>
                    <a:pt x="2888979" y="1210965"/>
                  </a:lnTo>
                  <a:cubicBezTo>
                    <a:pt x="2888979" y="1221415"/>
                    <a:pt x="2884828" y="1231436"/>
                    <a:pt x="2877439" y="1238825"/>
                  </a:cubicBezTo>
                  <a:cubicBezTo>
                    <a:pt x="2870050" y="1246214"/>
                    <a:pt x="2860028" y="1250365"/>
                    <a:pt x="2849579" y="1250365"/>
                  </a:cubicBezTo>
                  <a:lnTo>
                    <a:pt x="39400" y="1250365"/>
                  </a:lnTo>
                  <a:cubicBezTo>
                    <a:pt x="28950" y="1250365"/>
                    <a:pt x="18929" y="1246214"/>
                    <a:pt x="11540" y="1238825"/>
                  </a:cubicBezTo>
                  <a:cubicBezTo>
                    <a:pt x="4151" y="1231436"/>
                    <a:pt x="0" y="1221415"/>
                    <a:pt x="0" y="1210965"/>
                  </a:cubicBezTo>
                  <a:lnTo>
                    <a:pt x="0" y="39400"/>
                  </a:lnTo>
                  <a:cubicBezTo>
                    <a:pt x="0" y="28950"/>
                    <a:pt x="4151" y="18929"/>
                    <a:pt x="11540" y="11540"/>
                  </a:cubicBezTo>
                  <a:cubicBezTo>
                    <a:pt x="18929" y="4151"/>
                    <a:pt x="28950" y="0"/>
                    <a:pt x="39400" y="0"/>
                  </a:cubicBezTo>
                  <a:close/>
                </a:path>
              </a:pathLst>
            </a:custGeom>
            <a:solidFill>
              <a:srgbClr val="FCFDFE"/>
            </a:solidFill>
          </p:spPr>
        </p:sp>
        <p:sp>
          <p:nvSpPr>
            <p:cNvPr name="TextBox 30" id="30"/>
            <p:cNvSpPr txBox="true"/>
            <p:nvPr/>
          </p:nvSpPr>
          <p:spPr>
            <a:xfrm>
              <a:off x="0" y="-47625"/>
              <a:ext cx="2888979" cy="1297990"/>
            </a:xfrm>
            <a:prstGeom prst="rect">
              <a:avLst/>
            </a:prstGeom>
          </p:spPr>
          <p:txBody>
            <a:bodyPr anchor="ctr" rtlCol="false" tIns="50800" lIns="50800" bIns="50800" rIns="50800"/>
            <a:lstStyle/>
            <a:p>
              <a:pPr algn="ctr">
                <a:lnSpc>
                  <a:spcPts val="2488"/>
                </a:lnSpc>
              </a:pPr>
            </a:p>
          </p:txBody>
        </p:sp>
      </p:grpSp>
      <p:sp>
        <p:nvSpPr>
          <p:cNvPr name="Freeform 31" id="31"/>
          <p:cNvSpPr/>
          <p:nvPr/>
        </p:nvSpPr>
        <p:spPr>
          <a:xfrm flipH="false" flipV="false" rot="0">
            <a:off x="8412316" y="5143500"/>
            <a:ext cx="1463367" cy="1532322"/>
          </a:xfrm>
          <a:custGeom>
            <a:avLst/>
            <a:gdLst/>
            <a:ahLst/>
            <a:cxnLst/>
            <a:rect r="r" b="b" t="t" l="l"/>
            <a:pathLst>
              <a:path h="1532322" w="1463367">
                <a:moveTo>
                  <a:pt x="0" y="0"/>
                </a:moveTo>
                <a:lnTo>
                  <a:pt x="1463368" y="0"/>
                </a:lnTo>
                <a:lnTo>
                  <a:pt x="1463368" y="1532322"/>
                </a:lnTo>
                <a:lnTo>
                  <a:pt x="0" y="1532322"/>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32" id="32"/>
          <p:cNvSpPr txBox="true"/>
          <p:nvPr/>
        </p:nvSpPr>
        <p:spPr>
          <a:xfrm rot="0">
            <a:off x="2977145" y="1180170"/>
            <a:ext cx="12333710" cy="927020"/>
          </a:xfrm>
          <a:prstGeom prst="rect">
            <a:avLst/>
          </a:prstGeom>
        </p:spPr>
        <p:txBody>
          <a:bodyPr anchor="t" rtlCol="false" tIns="0" lIns="0" bIns="0" rIns="0">
            <a:spAutoFit/>
          </a:bodyPr>
          <a:lstStyle/>
          <a:p>
            <a:pPr algn="ctr">
              <a:lnSpc>
                <a:spcPts val="7265"/>
              </a:lnSpc>
            </a:pPr>
            <a:r>
              <a:rPr lang="en-US" sz="6199" b="true">
                <a:solidFill>
                  <a:srgbClr val="041F60"/>
                </a:solidFill>
                <a:latin typeface="Gotham Bold"/>
                <a:ea typeface="Gotham Bold"/>
                <a:cs typeface="Gotham Bold"/>
                <a:sym typeface="Gotham Bold"/>
              </a:rPr>
              <a:t>Summary</a:t>
            </a:r>
          </a:p>
        </p:txBody>
      </p:sp>
      <p:sp>
        <p:nvSpPr>
          <p:cNvPr name="TextBox 33" id="33"/>
          <p:cNvSpPr txBox="true"/>
          <p:nvPr/>
        </p:nvSpPr>
        <p:spPr>
          <a:xfrm rot="0">
            <a:off x="9816839" y="3414903"/>
            <a:ext cx="4895850" cy="1728597"/>
          </a:xfrm>
          <a:prstGeom prst="rect">
            <a:avLst/>
          </a:prstGeom>
        </p:spPr>
        <p:txBody>
          <a:bodyPr anchor="t" rtlCol="false" tIns="0" lIns="0" bIns="0" rIns="0">
            <a:spAutoFit/>
          </a:bodyPr>
          <a:lstStyle/>
          <a:p>
            <a:pPr algn="l">
              <a:lnSpc>
                <a:spcPts val="2798"/>
              </a:lnSpc>
            </a:pPr>
            <a:r>
              <a:rPr lang="en-US" sz="1799" b="true">
                <a:solidFill>
                  <a:srgbClr val="000000"/>
                </a:solidFill>
                <a:latin typeface="Canva Sans Bold"/>
                <a:ea typeface="Canva Sans Bold"/>
                <a:cs typeface="Canva Sans Bold"/>
                <a:sym typeface="Canva Sans Bold"/>
              </a:rPr>
              <a:t>Polynomial Reg</a:t>
            </a:r>
            <a:r>
              <a:rPr lang="en-US" sz="1799" b="true">
                <a:solidFill>
                  <a:srgbClr val="000000"/>
                </a:solidFill>
                <a:latin typeface="Canva Sans Bold"/>
                <a:ea typeface="Canva Sans Bold"/>
                <a:cs typeface="Canva Sans Bold"/>
                <a:sym typeface="Canva Sans Bold"/>
              </a:rPr>
              <a:t>ression</a:t>
            </a:r>
            <a:r>
              <a:rPr lang="en-US" sz="1799">
                <a:solidFill>
                  <a:srgbClr val="000000"/>
                </a:solidFill>
                <a:latin typeface="Canva Sans"/>
                <a:ea typeface="Canva Sans"/>
                <a:cs typeface="Canva Sans"/>
                <a:sym typeface="Canva Sans"/>
              </a:rPr>
              <a:t>: Extends linear models to capture curved relationships. Useful when data shows non-linear trends, but can easily overfit if the degree is too high or not tuned properly.</a:t>
            </a:r>
          </a:p>
        </p:txBody>
      </p:sp>
      <p:sp>
        <p:nvSpPr>
          <p:cNvPr name="TextBox 34" id="34"/>
          <p:cNvSpPr txBox="true"/>
          <p:nvPr/>
        </p:nvSpPr>
        <p:spPr>
          <a:xfrm rot="0">
            <a:off x="3519908" y="6726908"/>
            <a:ext cx="5006656" cy="1728469"/>
          </a:xfrm>
          <a:prstGeom prst="rect">
            <a:avLst/>
          </a:prstGeom>
        </p:spPr>
        <p:txBody>
          <a:bodyPr anchor="t" rtlCol="false" tIns="0" lIns="0" bIns="0" rIns="0">
            <a:spAutoFit/>
          </a:bodyPr>
          <a:lstStyle/>
          <a:p>
            <a:pPr algn="l">
              <a:lnSpc>
                <a:spcPts val="2799"/>
              </a:lnSpc>
              <a:spcBef>
                <a:spcPct val="0"/>
              </a:spcBef>
            </a:pPr>
            <a:r>
              <a:rPr lang="en-US" b="true" sz="1799">
                <a:solidFill>
                  <a:srgbClr val="000000"/>
                </a:solidFill>
                <a:latin typeface="Canva Sans Bold"/>
                <a:ea typeface="Canva Sans Bold"/>
                <a:cs typeface="Canva Sans Bold"/>
                <a:sym typeface="Canva Sans Bold"/>
              </a:rPr>
              <a:t>Random Forest: </a:t>
            </a:r>
            <a:r>
              <a:rPr lang="en-US" sz="1799">
                <a:solidFill>
                  <a:srgbClr val="000000"/>
                </a:solidFill>
                <a:latin typeface="Canva Sans"/>
                <a:ea typeface="Canva Sans"/>
                <a:cs typeface="Canva Sans"/>
                <a:sym typeface="Canva Sans"/>
              </a:rPr>
              <a:t>A powerful ensemble method that handles complex, non-linear relationships automatically. It is more accurate and robust than simple models but less interpretable.</a:t>
            </a:r>
          </a:p>
        </p:txBody>
      </p:sp>
      <p:sp>
        <p:nvSpPr>
          <p:cNvPr name="TextBox 35" id="35"/>
          <p:cNvSpPr txBox="true"/>
          <p:nvPr/>
        </p:nvSpPr>
        <p:spPr>
          <a:xfrm rot="0">
            <a:off x="9816839" y="6660302"/>
            <a:ext cx="5059991" cy="2080894"/>
          </a:xfrm>
          <a:prstGeom prst="rect">
            <a:avLst/>
          </a:prstGeom>
        </p:spPr>
        <p:txBody>
          <a:bodyPr anchor="t" rtlCol="false" tIns="0" lIns="0" bIns="0" rIns="0">
            <a:spAutoFit/>
          </a:bodyPr>
          <a:lstStyle/>
          <a:p>
            <a:pPr algn="l">
              <a:lnSpc>
                <a:spcPts val="2799"/>
              </a:lnSpc>
              <a:spcBef>
                <a:spcPct val="0"/>
              </a:spcBef>
            </a:pPr>
            <a:r>
              <a:rPr lang="en-US" b="true" sz="1799">
                <a:solidFill>
                  <a:srgbClr val="000000"/>
                </a:solidFill>
                <a:latin typeface="Canva Sans Bold"/>
                <a:ea typeface="Canva Sans Bold"/>
                <a:cs typeface="Canva Sans Bold"/>
                <a:sym typeface="Canva Sans Bold"/>
              </a:rPr>
              <a:t>Other models/graphs </a:t>
            </a:r>
            <a:r>
              <a:rPr lang="en-US" sz="1799">
                <a:solidFill>
                  <a:srgbClr val="000000"/>
                </a:solidFill>
                <a:latin typeface="Canva Sans"/>
                <a:ea typeface="Canva Sans"/>
                <a:cs typeface="Canva Sans"/>
                <a:sym typeface="Canva Sans"/>
              </a:rPr>
              <a:t>(e.g., scatter plots, residual plots): Used to visualize relationships, detect patterns, and evaluate model performance. They help in choosing the right model and diagnosing issues like outliers or under/overfitting.</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solidFill>
          <a:srgbClr val="F3F4FA"/>
        </a:solidFill>
      </p:bgPr>
    </p:bg>
    <p:spTree>
      <p:nvGrpSpPr>
        <p:cNvPr id="1" name=""/>
        <p:cNvGrpSpPr/>
        <p:nvPr/>
      </p:nvGrpSpPr>
      <p:grpSpPr>
        <a:xfrm>
          <a:off x="0" y="0"/>
          <a:ext cx="0" cy="0"/>
          <a:chOff x="0" y="0"/>
          <a:chExt cx="0" cy="0"/>
        </a:xfrm>
      </p:grpSpPr>
      <p:sp>
        <p:nvSpPr>
          <p:cNvPr name="Freeform 2" id="2"/>
          <p:cNvSpPr/>
          <p:nvPr/>
        </p:nvSpPr>
        <p:spPr>
          <a:xfrm flipH="false" flipV="false" rot="0">
            <a:off x="3696155" y="3608198"/>
            <a:ext cx="10895691" cy="3070604"/>
          </a:xfrm>
          <a:custGeom>
            <a:avLst/>
            <a:gdLst/>
            <a:ahLst/>
            <a:cxnLst/>
            <a:rect r="r" b="b" t="t" l="l"/>
            <a:pathLst>
              <a:path h="3070604" w="10895691">
                <a:moveTo>
                  <a:pt x="0" y="0"/>
                </a:moveTo>
                <a:lnTo>
                  <a:pt x="10895690" y="0"/>
                </a:lnTo>
                <a:lnTo>
                  <a:pt x="10895690" y="3070604"/>
                </a:lnTo>
                <a:lnTo>
                  <a:pt x="0" y="3070604"/>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0">
            <a:off x="1461115" y="2619297"/>
            <a:ext cx="1375715" cy="4492131"/>
          </a:xfrm>
          <a:custGeom>
            <a:avLst/>
            <a:gdLst/>
            <a:ahLst/>
            <a:cxnLst/>
            <a:rect r="r" b="b" t="t" l="l"/>
            <a:pathLst>
              <a:path h="4492131" w="1375715">
                <a:moveTo>
                  <a:pt x="0" y="0"/>
                </a:moveTo>
                <a:lnTo>
                  <a:pt x="1375715" y="0"/>
                </a:lnTo>
                <a:lnTo>
                  <a:pt x="1375715" y="4492130"/>
                </a:lnTo>
                <a:lnTo>
                  <a:pt x="0" y="4492130"/>
                </a:lnTo>
                <a:lnTo>
                  <a:pt x="0" y="0"/>
                </a:lnTo>
                <a:close/>
              </a:path>
            </a:pathLst>
          </a:custGeom>
          <a:blipFill>
            <a:blip r:embed="rId4"/>
            <a:stretch>
              <a:fillRect l="0" t="0" r="0" b="0"/>
            </a:stretch>
          </a:blipFill>
        </p:spPr>
      </p:sp>
      <p:sp>
        <p:nvSpPr>
          <p:cNvPr name="Freeform 4" id="4"/>
          <p:cNvSpPr/>
          <p:nvPr/>
        </p:nvSpPr>
        <p:spPr>
          <a:xfrm flipH="false" flipV="false" rot="0">
            <a:off x="14756659" y="2329462"/>
            <a:ext cx="2377407" cy="5071801"/>
          </a:xfrm>
          <a:custGeom>
            <a:avLst/>
            <a:gdLst/>
            <a:ahLst/>
            <a:cxnLst/>
            <a:rect r="r" b="b" t="t" l="l"/>
            <a:pathLst>
              <a:path h="5071801" w="2377407">
                <a:moveTo>
                  <a:pt x="0" y="0"/>
                </a:moveTo>
                <a:lnTo>
                  <a:pt x="2377407" y="0"/>
                </a:lnTo>
                <a:lnTo>
                  <a:pt x="2377407" y="5071801"/>
                </a:lnTo>
                <a:lnTo>
                  <a:pt x="0" y="5071801"/>
                </a:lnTo>
                <a:lnTo>
                  <a:pt x="0" y="0"/>
                </a:lnTo>
                <a:close/>
              </a:path>
            </a:pathLst>
          </a:custGeom>
          <a:blipFill>
            <a:blip r:embed="rId5"/>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DAHItd3lfmw</dc:identifier>
  <dcterms:modified xsi:type="dcterms:W3CDTF">2011-08-01T06:04:30Z</dcterms:modified>
  <cp:revision>1</cp:revision>
  <dc:title>House Price Prediction ML model</dc:title>
</cp:coreProperties>
</file>